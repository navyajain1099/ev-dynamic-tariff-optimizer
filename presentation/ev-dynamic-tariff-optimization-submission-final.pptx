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374858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7F9"/>
        </a:solidFill>
        <a:effectLst/>
      </p:bgPr>
    </p:bg>
    <p:spTree>
      <p:nvGrpSpPr>
        <p:cNvPr id="1" name=""/>
        <p:cNvGrpSpPr/>
        <p:nvPr/>
      </p:nvGrpSpPr>
      <p:grpSpPr>
        <a:xfrm>
          <a:off x="0" y="0"/>
          <a:ext cx="0" cy="0"/>
          <a:chOff x="0" y="0"/>
          <a:chExt cx="0" cy="0"/>
        </a:xfrm>
      </p:grpSpPr>
      <p:sp>
        <p:nvSpPr>
          <p:cNvPr id="2" name="Text 0"/>
          <p:cNvSpPr/>
          <p:nvPr/>
        </p:nvSpPr>
        <p:spPr>
          <a:xfrm>
            <a:off x="640080" y="640080"/>
            <a:ext cx="7955280" cy="566928"/>
          </a:xfrm>
          <a:prstGeom prst="rect">
            <a:avLst/>
          </a:prstGeom>
          <a:noFill/>
          <a:ln/>
        </p:spPr>
        <p:txBody>
          <a:bodyPr wrap="square" lIns="0" tIns="0" rIns="0" bIns="0" rtlCol="0" anchor="ctr"/>
          <a:lstStyle/>
          <a:p>
            <a:pPr marL="0" indent="0">
              <a:buNone/>
            </a:pPr>
            <a:r>
              <a:rPr lang="en-US" sz="3000" b="1" dirty="0">
                <a:solidFill>
                  <a:srgbClr val="1F2937"/>
                </a:solidFill>
              </a:rPr>
              <a:t>EV Dynamic Tariff Optimization</a:t>
            </a:r>
            <a:endParaRPr lang="en-US" sz="3000" dirty="0"/>
          </a:p>
        </p:txBody>
      </p:sp>
      <p:sp>
        <p:nvSpPr>
          <p:cNvPr id="3" name="Text 1"/>
          <p:cNvSpPr/>
          <p:nvPr/>
        </p:nvSpPr>
        <p:spPr>
          <a:xfrm>
            <a:off x="658368" y="1353312"/>
            <a:ext cx="7223760" cy="731520"/>
          </a:xfrm>
          <a:prstGeom prst="rect">
            <a:avLst/>
          </a:prstGeom>
          <a:noFill/>
          <a:ln/>
        </p:spPr>
        <p:txBody>
          <a:bodyPr wrap="square" lIns="0" tIns="0" rIns="0" bIns="0" rtlCol="0" anchor="t">
            <a:normAutofit/>
          </a:bodyPr>
          <a:lstStyle/>
          <a:p>
            <a:pPr marL="0" indent="0">
              <a:buNone/>
            </a:pPr>
            <a:r>
              <a:rPr lang="en-US" sz="1300" dirty="0">
                <a:solidFill>
                  <a:srgbClr val="344054"/>
                </a:solidFill>
              </a:rPr>
              <a:t>This project builds a practical pricing workflow for EV charging networks: forecast utilization, apply bounded dynamic tariffs, and monitor whether the policy improves revenue and congestion without losing too much demand.</a:t>
            </a:r>
            <a:endParaRPr lang="en-US" sz="1300" dirty="0"/>
          </a:p>
        </p:txBody>
      </p:sp>
      <p:sp>
        <p:nvSpPr>
          <p:cNvPr id="4" name="Shape 2"/>
          <p:cNvSpPr/>
          <p:nvPr/>
        </p:nvSpPr>
        <p:spPr>
          <a:xfrm>
            <a:off x="713232" y="2788920"/>
            <a:ext cx="2148840" cy="1051560"/>
          </a:xfrm>
          <a:prstGeom prst="roundRect">
            <a:avLst>
              <a:gd name="adj" fmla="val 3478"/>
            </a:avLst>
          </a:prstGeom>
          <a:solidFill>
            <a:srgbClr val="FFFFFF"/>
          </a:solidFill>
          <a:ln w="10160">
            <a:solidFill>
              <a:srgbClr val="D0D5DD"/>
            </a:solidFill>
            <a:prstDash val="solid"/>
          </a:ln>
        </p:spPr>
      </p:sp>
      <p:sp>
        <p:nvSpPr>
          <p:cNvPr id="5" name="Text 3"/>
          <p:cNvSpPr/>
          <p:nvPr/>
        </p:nvSpPr>
        <p:spPr>
          <a:xfrm>
            <a:off x="859536" y="2944368"/>
            <a:ext cx="1828800" cy="182880"/>
          </a:xfrm>
          <a:prstGeom prst="rect">
            <a:avLst/>
          </a:prstGeom>
          <a:noFill/>
          <a:ln/>
        </p:spPr>
        <p:txBody>
          <a:bodyPr wrap="square" lIns="0" tIns="0" rIns="0" bIns="0" rtlCol="0" anchor="ctr"/>
          <a:lstStyle/>
          <a:p>
            <a:pPr marL="0" indent="0">
              <a:buNone/>
            </a:pPr>
            <a:r>
              <a:rPr lang="en-US" sz="950" b="1" dirty="0">
                <a:solidFill>
                  <a:srgbClr val="2563EB"/>
                </a:solidFill>
              </a:rPr>
              <a:t>1. Predict</a:t>
            </a:r>
            <a:endParaRPr lang="en-US" sz="950" dirty="0"/>
          </a:p>
        </p:txBody>
      </p:sp>
      <p:sp>
        <p:nvSpPr>
          <p:cNvPr id="6" name="Text 4"/>
          <p:cNvSpPr/>
          <p:nvPr/>
        </p:nvSpPr>
        <p:spPr>
          <a:xfrm>
            <a:off x="859536" y="3227832"/>
            <a:ext cx="1828800" cy="384048"/>
          </a:xfrm>
          <a:prstGeom prst="rect">
            <a:avLst/>
          </a:prstGeom>
          <a:noFill/>
          <a:ln/>
        </p:spPr>
        <p:txBody>
          <a:bodyPr wrap="square" lIns="0" tIns="0" rIns="0" bIns="0" rtlCol="0" anchor="ctr">
            <a:normAutofit/>
          </a:bodyPr>
          <a:lstStyle/>
          <a:p>
            <a:pPr marL="0" indent="0">
              <a:buNone/>
            </a:pPr>
            <a:r>
              <a:rPr lang="en-US" sz="790" dirty="0">
                <a:solidFill>
                  <a:srgbClr val="344054"/>
                </a:solidFill>
              </a:rPr>
              <a:t>Estimate one-hour-ahead charger utilization from UrbanEV time, zone, price, and lag features.</a:t>
            </a:r>
            <a:endParaRPr lang="en-US" sz="790" dirty="0"/>
          </a:p>
        </p:txBody>
      </p:sp>
      <p:sp>
        <p:nvSpPr>
          <p:cNvPr id="7" name="Shape 5"/>
          <p:cNvSpPr/>
          <p:nvPr/>
        </p:nvSpPr>
        <p:spPr>
          <a:xfrm>
            <a:off x="3154680" y="2788920"/>
            <a:ext cx="2148840" cy="1051560"/>
          </a:xfrm>
          <a:prstGeom prst="roundRect">
            <a:avLst>
              <a:gd name="adj" fmla="val 3478"/>
            </a:avLst>
          </a:prstGeom>
          <a:solidFill>
            <a:srgbClr val="FFFFFF"/>
          </a:solidFill>
          <a:ln w="10160">
            <a:solidFill>
              <a:srgbClr val="D0D5DD"/>
            </a:solidFill>
            <a:prstDash val="solid"/>
          </a:ln>
        </p:spPr>
      </p:sp>
      <p:sp>
        <p:nvSpPr>
          <p:cNvPr id="8" name="Text 6"/>
          <p:cNvSpPr/>
          <p:nvPr/>
        </p:nvSpPr>
        <p:spPr>
          <a:xfrm>
            <a:off x="3300984" y="2944368"/>
            <a:ext cx="1828800" cy="182880"/>
          </a:xfrm>
          <a:prstGeom prst="rect">
            <a:avLst/>
          </a:prstGeom>
          <a:noFill/>
          <a:ln/>
        </p:spPr>
        <p:txBody>
          <a:bodyPr wrap="square" lIns="0" tIns="0" rIns="0" bIns="0" rtlCol="0" anchor="ctr"/>
          <a:lstStyle/>
          <a:p>
            <a:pPr marL="0" indent="0">
              <a:buNone/>
            </a:pPr>
            <a:r>
              <a:rPr lang="en-US" sz="950" b="1" dirty="0">
                <a:solidFill>
                  <a:srgbClr val="B45309"/>
                </a:solidFill>
              </a:rPr>
              <a:t>2. Price</a:t>
            </a:r>
            <a:endParaRPr lang="en-US" sz="950" dirty="0"/>
          </a:p>
        </p:txBody>
      </p:sp>
      <p:sp>
        <p:nvSpPr>
          <p:cNvPr id="9" name="Text 7"/>
          <p:cNvSpPr/>
          <p:nvPr/>
        </p:nvSpPr>
        <p:spPr>
          <a:xfrm>
            <a:off x="3300984" y="3227832"/>
            <a:ext cx="1828800" cy="384048"/>
          </a:xfrm>
          <a:prstGeom prst="rect">
            <a:avLst/>
          </a:prstGeom>
          <a:noFill/>
          <a:ln/>
        </p:spPr>
        <p:txBody>
          <a:bodyPr wrap="square" lIns="0" tIns="0" rIns="0" bIns="0" rtlCol="0" anchor="ctr">
            <a:normAutofit/>
          </a:bodyPr>
          <a:lstStyle/>
          <a:p>
            <a:pPr marL="0" indent="0">
              <a:buNone/>
            </a:pPr>
            <a:r>
              <a:rPr lang="en-US" sz="790" dirty="0">
                <a:solidFill>
                  <a:srgbClr val="344054"/>
                </a:solidFill>
              </a:rPr>
              <a:t>Convert predicted utilization into surge, normal, or discount signals with guardrails.</a:t>
            </a:r>
            <a:endParaRPr lang="en-US" sz="790" dirty="0"/>
          </a:p>
        </p:txBody>
      </p:sp>
      <p:sp>
        <p:nvSpPr>
          <p:cNvPr id="10" name="Shape 8"/>
          <p:cNvSpPr/>
          <p:nvPr/>
        </p:nvSpPr>
        <p:spPr>
          <a:xfrm>
            <a:off x="5596128" y="2788920"/>
            <a:ext cx="2148840" cy="1051560"/>
          </a:xfrm>
          <a:prstGeom prst="roundRect">
            <a:avLst>
              <a:gd name="adj" fmla="val 3478"/>
            </a:avLst>
          </a:prstGeom>
          <a:solidFill>
            <a:srgbClr val="FFFFFF"/>
          </a:solidFill>
          <a:ln w="10160">
            <a:solidFill>
              <a:srgbClr val="D0D5DD"/>
            </a:solidFill>
            <a:prstDash val="solid"/>
          </a:ln>
        </p:spPr>
      </p:sp>
      <p:sp>
        <p:nvSpPr>
          <p:cNvPr id="11" name="Text 9"/>
          <p:cNvSpPr/>
          <p:nvPr/>
        </p:nvSpPr>
        <p:spPr>
          <a:xfrm>
            <a:off x="5742432" y="2944368"/>
            <a:ext cx="1828800" cy="182880"/>
          </a:xfrm>
          <a:prstGeom prst="rect">
            <a:avLst/>
          </a:prstGeom>
          <a:noFill/>
          <a:ln/>
        </p:spPr>
        <p:txBody>
          <a:bodyPr wrap="square" lIns="0" tIns="0" rIns="0" bIns="0" rtlCol="0" anchor="ctr"/>
          <a:lstStyle/>
          <a:p>
            <a:pPr marL="0" indent="0">
              <a:buNone/>
            </a:pPr>
            <a:r>
              <a:rPr lang="en-US" sz="950" b="1" dirty="0">
                <a:solidFill>
                  <a:srgbClr val="16803C"/>
                </a:solidFill>
              </a:rPr>
              <a:t>3. Monitor</a:t>
            </a:r>
            <a:endParaRPr lang="en-US" sz="950" dirty="0"/>
          </a:p>
        </p:txBody>
      </p:sp>
      <p:sp>
        <p:nvSpPr>
          <p:cNvPr id="12" name="Text 10"/>
          <p:cNvSpPr/>
          <p:nvPr/>
        </p:nvSpPr>
        <p:spPr>
          <a:xfrm>
            <a:off x="5742432" y="3227832"/>
            <a:ext cx="1828800" cy="384048"/>
          </a:xfrm>
          <a:prstGeom prst="rect">
            <a:avLst/>
          </a:prstGeom>
          <a:noFill/>
          <a:ln/>
        </p:spPr>
        <p:txBody>
          <a:bodyPr wrap="square" lIns="0" tIns="0" rIns="0" bIns="0" rtlCol="0" anchor="ctr">
            <a:normAutofit/>
          </a:bodyPr>
          <a:lstStyle/>
          <a:p>
            <a:pPr marL="0" indent="0">
              <a:buNone/>
            </a:pPr>
            <a:r>
              <a:rPr lang="en-US" sz="790" dirty="0">
                <a:solidFill>
                  <a:srgbClr val="344054"/>
                </a:solidFill>
              </a:rPr>
              <a:t>Track revenue, demand retained, wait proxy, and pricing efficiency over learning episodes.</a:t>
            </a:r>
            <a:endParaRPr lang="en-US" sz="790" dirty="0"/>
          </a:p>
        </p:txBody>
      </p:sp>
      <p:sp>
        <p:nvSpPr>
          <p:cNvPr id="20" name="Text 18"/>
          <p:cNvSpPr/>
          <p:nvPr/>
        </p:nvSpPr>
        <p:spPr>
          <a:xfrm>
            <a:off x="502920" y="6492240"/>
            <a:ext cx="11155680" cy="182880"/>
          </a:xfrm>
          <a:prstGeom prst="rect">
            <a:avLst/>
          </a:prstGeom>
          <a:noFill/>
          <a:ln/>
        </p:spPr>
        <p:txBody>
          <a:bodyPr wrap="square" lIns="0" tIns="0" rIns="0" bIns="0" rtlCol="0" anchor="ctr"/>
          <a:lstStyle/>
          <a:p>
            <a:pPr marL="0" indent="0">
              <a:buNone/>
            </a:pPr>
            <a:r>
              <a:rPr lang="en-US" sz="750" dirty="0">
                <a:solidFill>
                  <a:srgbClr val="98A2B3"/>
                </a:solidFill>
              </a:rPr>
              <a:t>EV Dynamic Tariff Optimization | 1</a:t>
            </a:r>
            <a:endParaRPr lang="en-US" sz="750" dirty="0"/>
          </a:p>
        </p:txBody>
      </p:sp>
      <p:sp>
        <p:nvSpPr>
          <p:cNvPr id="21" name="Rectangle 20">
            <a:extLst>
              <a:ext uri="{FF2B5EF4-FFF2-40B4-BE49-F238E27FC236}">
                <a16:creationId xmlns:a16="http://schemas.microsoft.com/office/drawing/2014/main" id="{D2F48F6A-06AE-D8B0-B03B-7D6D451A0CF5}"/>
              </a:ext>
            </a:extLst>
          </p:cNvPr>
          <p:cNvSpPr/>
          <p:nvPr/>
        </p:nvSpPr>
        <p:spPr>
          <a:xfrm>
            <a:off x="431321" y="4408098"/>
            <a:ext cx="10075653" cy="172528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t>My approach is a three-stage agentic pipeline for EV charging tariff optimization.  First, I preprocess and analyze the ACN and </a:t>
            </a:r>
            <a:r>
              <a:rPr lang="en-US" sz="1200" dirty="0" err="1"/>
              <a:t>UrbanEV</a:t>
            </a:r>
            <a:r>
              <a:rPr lang="en-US" sz="1200" dirty="0"/>
              <a:t> datasets to understand demand patterns, utilization, and session behavior. </a:t>
            </a:r>
            <a:r>
              <a:rPr lang="en-US" sz="1200" dirty="0" err="1"/>
              <a:t>UrbanEV</a:t>
            </a:r>
            <a:r>
              <a:rPr lang="en-US" sz="1200" dirty="0"/>
              <a:t> is used for demand forecasting and congestion/off-peak analysis, while ACN is used for revenue and pricing-efficiency evaluation.  Next, I build a Demand Prediction Agent using features like hour, day, zone, price, lag utilization, and rolling demand. The best model’s predicted utilization is then used by the Tariff Pricing Agent to assign bounded surge, normal, or discount prices.  Finally, a Monitoring Agent evaluates the policy using revenue gain, customer response, pricing efficiency, and a waiting-time proxy, then refines the pricing thresholds over learning episodes.</a:t>
            </a:r>
            <a:endParaRPr lang="en-IN"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274320"/>
            <a:ext cx="11155680" cy="201168"/>
          </a:xfrm>
          <a:prstGeom prst="rect">
            <a:avLst/>
          </a:prstGeom>
          <a:noFill/>
          <a:ln/>
        </p:spPr>
        <p:txBody>
          <a:bodyPr wrap="square" lIns="0" tIns="0" rIns="0" bIns="0" rtlCol="0" anchor="ctr"/>
          <a:lstStyle/>
          <a:p>
            <a:pPr marL="0" indent="0">
              <a:buNone/>
            </a:pPr>
            <a:r>
              <a:rPr lang="en-US" sz="850" b="1" dirty="0">
                <a:solidFill>
                  <a:srgbClr val="667085"/>
                </a:solidFill>
              </a:rPr>
              <a:t>01 | Problem framing</a:t>
            </a:r>
            <a:endParaRPr lang="en-US" sz="850" dirty="0"/>
          </a:p>
        </p:txBody>
      </p:sp>
      <p:sp>
        <p:nvSpPr>
          <p:cNvPr id="3" name="Text 1"/>
          <p:cNvSpPr/>
          <p:nvPr/>
        </p:nvSpPr>
        <p:spPr>
          <a:xfrm>
            <a:off x="502920" y="566928"/>
            <a:ext cx="11064240" cy="457200"/>
          </a:xfrm>
          <a:prstGeom prst="rect">
            <a:avLst/>
          </a:prstGeom>
          <a:noFill/>
          <a:ln/>
        </p:spPr>
        <p:txBody>
          <a:bodyPr wrap="square" lIns="0" tIns="0" rIns="0" bIns="0" rtlCol="0" anchor="ctr">
            <a:normAutofit/>
          </a:bodyPr>
          <a:lstStyle/>
          <a:p>
            <a:pPr marL="0" indent="0">
              <a:buNone/>
            </a:pPr>
            <a:r>
              <a:rPr lang="en-US" sz="2200" b="1" dirty="0">
                <a:solidFill>
                  <a:srgbClr val="1F2937"/>
                </a:solidFill>
              </a:rPr>
              <a:t>Why a dynamic tariff is needed</a:t>
            </a:r>
            <a:endParaRPr lang="en-US" sz="2200" dirty="0"/>
          </a:p>
        </p:txBody>
      </p:sp>
      <p:sp>
        <p:nvSpPr>
          <p:cNvPr id="4" name="Shape 2"/>
          <p:cNvSpPr/>
          <p:nvPr/>
        </p:nvSpPr>
        <p:spPr>
          <a:xfrm>
            <a:off x="502920" y="1115568"/>
            <a:ext cx="11155680" cy="0"/>
          </a:xfrm>
          <a:prstGeom prst="line">
            <a:avLst/>
          </a:prstGeom>
          <a:noFill/>
          <a:ln w="12700">
            <a:solidFill>
              <a:srgbClr val="D0D5DD"/>
            </a:solidFill>
            <a:prstDash val="solid"/>
          </a:ln>
        </p:spPr>
      </p:sp>
      <p:sp>
        <p:nvSpPr>
          <p:cNvPr id="5" name="Text 3"/>
          <p:cNvSpPr/>
          <p:nvPr/>
        </p:nvSpPr>
        <p:spPr>
          <a:xfrm>
            <a:off x="658368" y="1389888"/>
            <a:ext cx="10789920" cy="731520"/>
          </a:xfrm>
          <a:prstGeom prst="rect">
            <a:avLst/>
          </a:prstGeom>
          <a:noFill/>
          <a:ln/>
        </p:spPr>
        <p:txBody>
          <a:bodyPr wrap="square" lIns="0" tIns="0" rIns="0" bIns="0" rtlCol="0" anchor="t">
            <a:normAutofit/>
          </a:bodyPr>
          <a:lstStyle/>
          <a:p>
            <a:pPr marL="0" indent="0">
              <a:buNone/>
            </a:pPr>
            <a:r>
              <a:rPr lang="en-US" sz="1200" dirty="0">
                <a:solidFill>
                  <a:srgbClr val="344054"/>
                </a:solidFill>
              </a:rPr>
              <a:t>Flat per-kWh pricing treats every charging session the same, even though charger demand changes strongly by hour, day, and location. This creates two problems at the same time: some periods face congestion while other periods have unused charging capacity.</a:t>
            </a:r>
            <a:endParaRPr lang="en-US" sz="1200" dirty="0"/>
          </a:p>
        </p:txBody>
      </p:sp>
      <p:sp>
        <p:nvSpPr>
          <p:cNvPr id="6" name="Text 4"/>
          <p:cNvSpPr/>
          <p:nvPr/>
        </p:nvSpPr>
        <p:spPr>
          <a:xfrm>
            <a:off x="713232" y="2487168"/>
            <a:ext cx="3657600" cy="201168"/>
          </a:xfrm>
          <a:prstGeom prst="rect">
            <a:avLst/>
          </a:prstGeom>
          <a:noFill/>
          <a:ln/>
        </p:spPr>
        <p:txBody>
          <a:bodyPr wrap="square" lIns="0" tIns="0" rIns="0" bIns="0" rtlCol="0" anchor="ctr"/>
          <a:lstStyle/>
          <a:p>
            <a:pPr marL="0" indent="0">
              <a:buNone/>
            </a:pPr>
            <a:r>
              <a:rPr lang="en-US" sz="850" b="1" dirty="0">
                <a:solidFill>
                  <a:srgbClr val="2563EB"/>
                </a:solidFill>
              </a:rPr>
              <a:t>Project objectives</a:t>
            </a:r>
            <a:endParaRPr lang="en-US" sz="850" dirty="0"/>
          </a:p>
        </p:txBody>
      </p:sp>
      <p:sp>
        <p:nvSpPr>
          <p:cNvPr id="7" name="Shape 5"/>
          <p:cNvSpPr/>
          <p:nvPr/>
        </p:nvSpPr>
        <p:spPr>
          <a:xfrm>
            <a:off x="777240" y="2926080"/>
            <a:ext cx="64008" cy="64008"/>
          </a:xfrm>
          <a:prstGeom prst="ellipse">
            <a:avLst/>
          </a:prstGeom>
          <a:solidFill>
            <a:srgbClr val="2563EB"/>
          </a:solidFill>
          <a:ln w="12700">
            <a:solidFill>
              <a:srgbClr val="2563EB"/>
            </a:solidFill>
            <a:prstDash val="solid"/>
          </a:ln>
        </p:spPr>
      </p:sp>
      <p:sp>
        <p:nvSpPr>
          <p:cNvPr id="8" name="Text 6"/>
          <p:cNvSpPr/>
          <p:nvPr/>
        </p:nvSpPr>
        <p:spPr>
          <a:xfrm>
            <a:off x="941832" y="2852928"/>
            <a:ext cx="10241280" cy="438912"/>
          </a:xfrm>
          <a:prstGeom prst="rect">
            <a:avLst/>
          </a:prstGeom>
          <a:noFill/>
          <a:ln/>
        </p:spPr>
        <p:txBody>
          <a:bodyPr wrap="square" lIns="0" tIns="0" rIns="0" bIns="0" rtlCol="0" anchor="t">
            <a:normAutofit/>
          </a:bodyPr>
          <a:lstStyle/>
          <a:p>
            <a:pPr marL="0" indent="0">
              <a:buNone/>
            </a:pPr>
            <a:r>
              <a:rPr lang="en-US" sz="1020" dirty="0">
                <a:solidFill>
                  <a:srgbClr val="344054"/>
                </a:solidFill>
              </a:rPr>
              <a:t>Forecast future charging utilization so the tariff decision is based on expected demand, not only historical averages.</a:t>
            </a:r>
            <a:endParaRPr lang="en-US" sz="1020" dirty="0"/>
          </a:p>
        </p:txBody>
      </p:sp>
      <p:sp>
        <p:nvSpPr>
          <p:cNvPr id="9" name="Shape 7"/>
          <p:cNvSpPr/>
          <p:nvPr/>
        </p:nvSpPr>
        <p:spPr>
          <a:xfrm>
            <a:off x="777240" y="3401568"/>
            <a:ext cx="64008" cy="64008"/>
          </a:xfrm>
          <a:prstGeom prst="ellipse">
            <a:avLst/>
          </a:prstGeom>
          <a:solidFill>
            <a:srgbClr val="2563EB"/>
          </a:solidFill>
          <a:ln w="12700">
            <a:solidFill>
              <a:srgbClr val="2563EB"/>
            </a:solidFill>
            <a:prstDash val="solid"/>
          </a:ln>
        </p:spPr>
      </p:sp>
      <p:sp>
        <p:nvSpPr>
          <p:cNvPr id="10" name="Text 8"/>
          <p:cNvSpPr/>
          <p:nvPr/>
        </p:nvSpPr>
        <p:spPr>
          <a:xfrm>
            <a:off x="941832" y="3328416"/>
            <a:ext cx="10241280" cy="438912"/>
          </a:xfrm>
          <a:prstGeom prst="rect">
            <a:avLst/>
          </a:prstGeom>
          <a:noFill/>
          <a:ln/>
        </p:spPr>
        <p:txBody>
          <a:bodyPr wrap="square" lIns="0" tIns="0" rIns="0" bIns="0" rtlCol="0" anchor="t">
            <a:normAutofit/>
          </a:bodyPr>
          <a:lstStyle/>
          <a:p>
            <a:pPr marL="0" indent="0">
              <a:buNone/>
            </a:pPr>
            <a:r>
              <a:rPr lang="en-US" sz="1020" dirty="0">
                <a:solidFill>
                  <a:srgbClr val="344054"/>
                </a:solidFill>
              </a:rPr>
              <a:t>Recommend bounded dynamic tariffs that can increase revenue while discouraging demand in congested periods.</a:t>
            </a:r>
            <a:endParaRPr lang="en-US" sz="1020" dirty="0"/>
          </a:p>
        </p:txBody>
      </p:sp>
      <p:sp>
        <p:nvSpPr>
          <p:cNvPr id="11" name="Shape 9"/>
          <p:cNvSpPr/>
          <p:nvPr/>
        </p:nvSpPr>
        <p:spPr>
          <a:xfrm>
            <a:off x="777240" y="3877056"/>
            <a:ext cx="64008" cy="64008"/>
          </a:xfrm>
          <a:prstGeom prst="ellipse">
            <a:avLst/>
          </a:prstGeom>
          <a:solidFill>
            <a:srgbClr val="2563EB"/>
          </a:solidFill>
          <a:ln w="12700">
            <a:solidFill>
              <a:srgbClr val="2563EB"/>
            </a:solidFill>
            <a:prstDash val="solid"/>
          </a:ln>
        </p:spPr>
      </p:sp>
      <p:sp>
        <p:nvSpPr>
          <p:cNvPr id="12" name="Text 10"/>
          <p:cNvSpPr/>
          <p:nvPr/>
        </p:nvSpPr>
        <p:spPr>
          <a:xfrm>
            <a:off x="941832" y="3803904"/>
            <a:ext cx="10241280" cy="438912"/>
          </a:xfrm>
          <a:prstGeom prst="rect">
            <a:avLst/>
          </a:prstGeom>
          <a:noFill/>
          <a:ln/>
        </p:spPr>
        <p:txBody>
          <a:bodyPr wrap="square" lIns="0" tIns="0" rIns="0" bIns="0" rtlCol="0" anchor="t">
            <a:normAutofit/>
          </a:bodyPr>
          <a:lstStyle/>
          <a:p>
            <a:pPr marL="0" indent="0">
              <a:buNone/>
            </a:pPr>
            <a:r>
              <a:rPr lang="en-US" sz="1020" dirty="0">
                <a:solidFill>
                  <a:srgbClr val="344054"/>
                </a:solidFill>
              </a:rPr>
              <a:t>Encourage off-peak usage when utilization is low, without discounting periods that are already congested.</a:t>
            </a:r>
            <a:endParaRPr lang="en-US" sz="1020" dirty="0"/>
          </a:p>
        </p:txBody>
      </p:sp>
      <p:sp>
        <p:nvSpPr>
          <p:cNvPr id="13" name="Shape 11"/>
          <p:cNvSpPr/>
          <p:nvPr/>
        </p:nvSpPr>
        <p:spPr>
          <a:xfrm>
            <a:off x="777240" y="4352544"/>
            <a:ext cx="64008" cy="64008"/>
          </a:xfrm>
          <a:prstGeom prst="ellipse">
            <a:avLst/>
          </a:prstGeom>
          <a:solidFill>
            <a:srgbClr val="2563EB"/>
          </a:solidFill>
          <a:ln w="12700">
            <a:solidFill>
              <a:srgbClr val="2563EB"/>
            </a:solidFill>
            <a:prstDash val="solid"/>
          </a:ln>
        </p:spPr>
      </p:sp>
      <p:sp>
        <p:nvSpPr>
          <p:cNvPr id="14" name="Text 12"/>
          <p:cNvSpPr/>
          <p:nvPr/>
        </p:nvSpPr>
        <p:spPr>
          <a:xfrm>
            <a:off x="941832" y="4279392"/>
            <a:ext cx="10241280" cy="438912"/>
          </a:xfrm>
          <a:prstGeom prst="rect">
            <a:avLst/>
          </a:prstGeom>
          <a:noFill/>
          <a:ln/>
        </p:spPr>
        <p:txBody>
          <a:bodyPr wrap="square" lIns="0" tIns="0" rIns="0" bIns="0" rtlCol="0" anchor="t">
            <a:normAutofit/>
          </a:bodyPr>
          <a:lstStyle/>
          <a:p>
            <a:pPr marL="0" indent="0">
              <a:buNone/>
            </a:pPr>
            <a:r>
              <a:rPr lang="en-US" sz="1020" dirty="0">
                <a:solidFill>
                  <a:srgbClr val="344054"/>
                </a:solidFill>
              </a:rPr>
              <a:t>Evaluate the policy through a monitoring loop using revenue gain, customer response, waiting-time proxy, and pricing efficiency.</a:t>
            </a:r>
            <a:endParaRPr lang="en-US" sz="1020" dirty="0"/>
          </a:p>
        </p:txBody>
      </p:sp>
      <p:sp>
        <p:nvSpPr>
          <p:cNvPr id="15" name="Shape 13"/>
          <p:cNvSpPr/>
          <p:nvPr/>
        </p:nvSpPr>
        <p:spPr>
          <a:xfrm>
            <a:off x="713232" y="5074920"/>
            <a:ext cx="10789920" cy="658368"/>
          </a:xfrm>
          <a:prstGeom prst="roundRect">
            <a:avLst>
              <a:gd name="adj" fmla="val 5556"/>
            </a:avLst>
          </a:prstGeom>
          <a:solidFill>
            <a:srgbClr val="EFF6FF"/>
          </a:solidFill>
          <a:ln w="10160">
            <a:solidFill>
              <a:srgbClr val="D0D5DD"/>
            </a:solidFill>
            <a:prstDash val="solid"/>
          </a:ln>
        </p:spPr>
      </p:sp>
      <p:sp>
        <p:nvSpPr>
          <p:cNvPr id="16" name="Text 14"/>
          <p:cNvSpPr/>
          <p:nvPr/>
        </p:nvSpPr>
        <p:spPr>
          <a:xfrm>
            <a:off x="932688" y="5285232"/>
            <a:ext cx="10287000" cy="219456"/>
          </a:xfrm>
          <a:prstGeom prst="rect">
            <a:avLst/>
          </a:prstGeom>
          <a:noFill/>
          <a:ln/>
        </p:spPr>
        <p:txBody>
          <a:bodyPr wrap="square" lIns="0" tIns="0" rIns="0" bIns="0" rtlCol="0" anchor="ctr">
            <a:normAutofit fontScale="92500"/>
          </a:bodyPr>
          <a:lstStyle/>
          <a:p>
            <a:pPr marL="0" indent="0">
              <a:buNone/>
            </a:pPr>
            <a:r>
              <a:rPr lang="en-US" sz="1020" b="1" dirty="0">
                <a:solidFill>
                  <a:srgbClr val="1F2937"/>
                </a:solidFill>
              </a:rPr>
              <a:t>Design choice: the project uses explainable rule-based tariff actions on top of ML forecasts, rather than a black-box price optimizer. This makes the result easier to justify in a business/policy setting.</a:t>
            </a:r>
            <a:endParaRPr lang="en-US" sz="1020" dirty="0"/>
          </a:p>
        </p:txBody>
      </p:sp>
      <p:sp>
        <p:nvSpPr>
          <p:cNvPr id="17" name="Text 15"/>
          <p:cNvSpPr/>
          <p:nvPr/>
        </p:nvSpPr>
        <p:spPr>
          <a:xfrm>
            <a:off x="502920" y="6492240"/>
            <a:ext cx="11155680" cy="182880"/>
          </a:xfrm>
          <a:prstGeom prst="rect">
            <a:avLst/>
          </a:prstGeom>
          <a:noFill/>
          <a:ln/>
        </p:spPr>
        <p:txBody>
          <a:bodyPr wrap="square" lIns="0" tIns="0" rIns="0" bIns="0" rtlCol="0" anchor="ctr"/>
          <a:lstStyle/>
          <a:p>
            <a:pPr marL="0" indent="0">
              <a:buNone/>
            </a:pPr>
            <a:r>
              <a:rPr lang="en-US" sz="750" dirty="0">
                <a:solidFill>
                  <a:srgbClr val="98A2B3"/>
                </a:solidFill>
              </a:rPr>
              <a:t>EV Dynamic Tariff Optimization | 2</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274320"/>
            <a:ext cx="11155680" cy="201168"/>
          </a:xfrm>
          <a:prstGeom prst="rect">
            <a:avLst/>
          </a:prstGeom>
          <a:noFill/>
          <a:ln/>
        </p:spPr>
        <p:txBody>
          <a:bodyPr wrap="square" lIns="0" tIns="0" rIns="0" bIns="0" rtlCol="0" anchor="ctr"/>
          <a:lstStyle/>
          <a:p>
            <a:pPr marL="0" indent="0">
              <a:buNone/>
            </a:pPr>
            <a:r>
              <a:rPr lang="en-US" sz="850" b="1" dirty="0">
                <a:solidFill>
                  <a:srgbClr val="667085"/>
                </a:solidFill>
              </a:rPr>
              <a:t>02 | Data and preprocessing</a:t>
            </a:r>
            <a:endParaRPr lang="en-US" sz="850" dirty="0"/>
          </a:p>
        </p:txBody>
      </p:sp>
      <p:sp>
        <p:nvSpPr>
          <p:cNvPr id="3" name="Text 1"/>
          <p:cNvSpPr/>
          <p:nvPr/>
        </p:nvSpPr>
        <p:spPr>
          <a:xfrm>
            <a:off x="502920" y="566928"/>
            <a:ext cx="11064240" cy="457200"/>
          </a:xfrm>
          <a:prstGeom prst="rect">
            <a:avLst/>
          </a:prstGeom>
          <a:noFill/>
          <a:ln/>
        </p:spPr>
        <p:txBody>
          <a:bodyPr wrap="square" lIns="0" tIns="0" rIns="0" bIns="0" rtlCol="0" anchor="ctr">
            <a:normAutofit/>
          </a:bodyPr>
          <a:lstStyle/>
          <a:p>
            <a:pPr marL="0" indent="0">
              <a:buNone/>
            </a:pPr>
            <a:r>
              <a:rPr lang="en-US" sz="2200" b="1" dirty="0">
                <a:solidFill>
                  <a:srgbClr val="1F2937"/>
                </a:solidFill>
              </a:rPr>
              <a:t>The two datasets are used for different evidence</a:t>
            </a:r>
            <a:endParaRPr lang="en-US" sz="2200" dirty="0"/>
          </a:p>
        </p:txBody>
      </p:sp>
      <p:sp>
        <p:nvSpPr>
          <p:cNvPr id="4" name="Shape 2"/>
          <p:cNvSpPr/>
          <p:nvPr/>
        </p:nvSpPr>
        <p:spPr>
          <a:xfrm>
            <a:off x="502920" y="1115568"/>
            <a:ext cx="11155680" cy="0"/>
          </a:xfrm>
          <a:prstGeom prst="line">
            <a:avLst/>
          </a:prstGeom>
          <a:noFill/>
          <a:ln w="12700">
            <a:solidFill>
              <a:srgbClr val="D0D5DD"/>
            </a:solidFill>
            <a:prstDash val="solid"/>
          </a:ln>
        </p:spPr>
      </p:sp>
      <p:sp>
        <p:nvSpPr>
          <p:cNvPr id="5" name="Shape 3"/>
          <p:cNvSpPr/>
          <p:nvPr/>
        </p:nvSpPr>
        <p:spPr>
          <a:xfrm>
            <a:off x="685800" y="1417320"/>
            <a:ext cx="1417320" cy="347472"/>
          </a:xfrm>
          <a:prstGeom prst="rect">
            <a:avLst/>
          </a:prstGeom>
          <a:solidFill>
            <a:srgbClr val="1F2937"/>
          </a:solidFill>
          <a:ln w="6350">
            <a:solidFill>
              <a:srgbClr val="D0D5DD"/>
            </a:solidFill>
            <a:prstDash val="solid"/>
          </a:ln>
        </p:spPr>
      </p:sp>
      <p:sp>
        <p:nvSpPr>
          <p:cNvPr id="6" name="Text 4"/>
          <p:cNvSpPr/>
          <p:nvPr/>
        </p:nvSpPr>
        <p:spPr>
          <a:xfrm>
            <a:off x="749808" y="1495044"/>
            <a:ext cx="1289304" cy="164592"/>
          </a:xfrm>
          <a:prstGeom prst="rect">
            <a:avLst/>
          </a:prstGeom>
          <a:noFill/>
          <a:ln/>
        </p:spPr>
        <p:txBody>
          <a:bodyPr wrap="square" lIns="0" tIns="0" rIns="0" bIns="0" rtlCol="0" anchor="ctr">
            <a:normAutofit/>
          </a:bodyPr>
          <a:lstStyle/>
          <a:p>
            <a:pPr marL="0" indent="0">
              <a:buNone/>
            </a:pPr>
            <a:r>
              <a:rPr lang="en-US" sz="760" b="1" dirty="0">
                <a:solidFill>
                  <a:srgbClr val="FFFFFF"/>
                </a:solidFill>
              </a:rPr>
              <a:t>Dataset</a:t>
            </a:r>
            <a:endParaRPr lang="en-US" sz="760" dirty="0"/>
          </a:p>
        </p:txBody>
      </p:sp>
      <p:sp>
        <p:nvSpPr>
          <p:cNvPr id="7" name="Shape 5"/>
          <p:cNvSpPr/>
          <p:nvPr/>
        </p:nvSpPr>
        <p:spPr>
          <a:xfrm>
            <a:off x="2103120" y="1417320"/>
            <a:ext cx="4572000" cy="347472"/>
          </a:xfrm>
          <a:prstGeom prst="rect">
            <a:avLst/>
          </a:prstGeom>
          <a:solidFill>
            <a:srgbClr val="1F2937"/>
          </a:solidFill>
          <a:ln w="6350">
            <a:solidFill>
              <a:srgbClr val="D0D5DD"/>
            </a:solidFill>
            <a:prstDash val="solid"/>
          </a:ln>
        </p:spPr>
      </p:sp>
      <p:sp>
        <p:nvSpPr>
          <p:cNvPr id="8" name="Text 6"/>
          <p:cNvSpPr/>
          <p:nvPr/>
        </p:nvSpPr>
        <p:spPr>
          <a:xfrm>
            <a:off x="2167128" y="1495044"/>
            <a:ext cx="4443984" cy="164592"/>
          </a:xfrm>
          <a:prstGeom prst="rect">
            <a:avLst/>
          </a:prstGeom>
          <a:noFill/>
          <a:ln/>
        </p:spPr>
        <p:txBody>
          <a:bodyPr wrap="square" lIns="0" tIns="0" rIns="0" bIns="0" rtlCol="0" anchor="ctr">
            <a:normAutofit/>
          </a:bodyPr>
          <a:lstStyle/>
          <a:p>
            <a:pPr marL="0" indent="0">
              <a:buNone/>
            </a:pPr>
            <a:r>
              <a:rPr lang="en-US" sz="760" b="1" dirty="0">
                <a:solidFill>
                  <a:srgbClr val="FFFFFF"/>
                </a:solidFill>
              </a:rPr>
              <a:t>Role in project</a:t>
            </a:r>
            <a:endParaRPr lang="en-US" sz="760" dirty="0"/>
          </a:p>
        </p:txBody>
      </p:sp>
      <p:sp>
        <p:nvSpPr>
          <p:cNvPr id="9" name="Shape 7"/>
          <p:cNvSpPr/>
          <p:nvPr/>
        </p:nvSpPr>
        <p:spPr>
          <a:xfrm>
            <a:off x="6675120" y="1417320"/>
            <a:ext cx="5074920" cy="347472"/>
          </a:xfrm>
          <a:prstGeom prst="rect">
            <a:avLst/>
          </a:prstGeom>
          <a:solidFill>
            <a:srgbClr val="1F2937"/>
          </a:solidFill>
          <a:ln w="6350">
            <a:solidFill>
              <a:srgbClr val="D0D5DD"/>
            </a:solidFill>
            <a:prstDash val="solid"/>
          </a:ln>
        </p:spPr>
      </p:sp>
      <p:sp>
        <p:nvSpPr>
          <p:cNvPr id="10" name="Text 8"/>
          <p:cNvSpPr/>
          <p:nvPr/>
        </p:nvSpPr>
        <p:spPr>
          <a:xfrm>
            <a:off x="6739128" y="1495044"/>
            <a:ext cx="4946904" cy="164592"/>
          </a:xfrm>
          <a:prstGeom prst="rect">
            <a:avLst/>
          </a:prstGeom>
          <a:noFill/>
          <a:ln/>
        </p:spPr>
        <p:txBody>
          <a:bodyPr wrap="square" lIns="0" tIns="0" rIns="0" bIns="0" rtlCol="0" anchor="ctr">
            <a:normAutofit/>
          </a:bodyPr>
          <a:lstStyle/>
          <a:p>
            <a:pPr marL="0" indent="0">
              <a:buNone/>
            </a:pPr>
            <a:r>
              <a:rPr lang="en-US" sz="760" b="1" dirty="0">
                <a:solidFill>
                  <a:srgbClr val="FFFFFF"/>
                </a:solidFill>
              </a:rPr>
              <a:t>Reason for use</a:t>
            </a:r>
            <a:endParaRPr lang="en-US" sz="760" dirty="0"/>
          </a:p>
        </p:txBody>
      </p:sp>
      <p:sp>
        <p:nvSpPr>
          <p:cNvPr id="11" name="Shape 9"/>
          <p:cNvSpPr/>
          <p:nvPr/>
        </p:nvSpPr>
        <p:spPr>
          <a:xfrm>
            <a:off x="685800" y="1764792"/>
            <a:ext cx="1417320" cy="347472"/>
          </a:xfrm>
          <a:prstGeom prst="rect">
            <a:avLst/>
          </a:prstGeom>
          <a:solidFill>
            <a:srgbClr val="FFFFFF"/>
          </a:solidFill>
          <a:ln w="6350">
            <a:solidFill>
              <a:srgbClr val="D0D5DD"/>
            </a:solidFill>
            <a:prstDash val="solid"/>
          </a:ln>
        </p:spPr>
      </p:sp>
      <p:sp>
        <p:nvSpPr>
          <p:cNvPr id="12" name="Text 10"/>
          <p:cNvSpPr/>
          <p:nvPr/>
        </p:nvSpPr>
        <p:spPr>
          <a:xfrm>
            <a:off x="749808" y="1842516"/>
            <a:ext cx="1289304" cy="164592"/>
          </a:xfrm>
          <a:prstGeom prst="rect">
            <a:avLst/>
          </a:prstGeom>
          <a:noFill/>
          <a:ln/>
        </p:spPr>
        <p:txBody>
          <a:bodyPr wrap="square" lIns="0" tIns="0" rIns="0" bIns="0" rtlCol="0" anchor="ctr">
            <a:normAutofit/>
          </a:bodyPr>
          <a:lstStyle/>
          <a:p>
            <a:pPr marL="0" indent="0">
              <a:buNone/>
            </a:pPr>
            <a:r>
              <a:rPr lang="en-US" sz="740" dirty="0">
                <a:solidFill>
                  <a:srgbClr val="344054"/>
                </a:solidFill>
              </a:rPr>
              <a:t>UrbanEV / ST-EVCDP</a:t>
            </a:r>
            <a:endParaRPr lang="en-US" sz="740" dirty="0"/>
          </a:p>
        </p:txBody>
      </p:sp>
      <p:sp>
        <p:nvSpPr>
          <p:cNvPr id="13" name="Shape 11"/>
          <p:cNvSpPr/>
          <p:nvPr/>
        </p:nvSpPr>
        <p:spPr>
          <a:xfrm>
            <a:off x="2103120" y="1764792"/>
            <a:ext cx="4572000" cy="347472"/>
          </a:xfrm>
          <a:prstGeom prst="rect">
            <a:avLst/>
          </a:prstGeom>
          <a:solidFill>
            <a:srgbClr val="FFFFFF"/>
          </a:solidFill>
          <a:ln w="6350">
            <a:solidFill>
              <a:srgbClr val="D0D5DD"/>
            </a:solidFill>
            <a:prstDash val="solid"/>
          </a:ln>
        </p:spPr>
      </p:sp>
      <p:sp>
        <p:nvSpPr>
          <p:cNvPr id="14" name="Text 12"/>
          <p:cNvSpPr/>
          <p:nvPr/>
        </p:nvSpPr>
        <p:spPr>
          <a:xfrm>
            <a:off x="2167128" y="1842516"/>
            <a:ext cx="4443984" cy="164592"/>
          </a:xfrm>
          <a:prstGeom prst="rect">
            <a:avLst/>
          </a:prstGeom>
          <a:noFill/>
          <a:ln/>
        </p:spPr>
        <p:txBody>
          <a:bodyPr wrap="square" lIns="0" tIns="0" rIns="0" bIns="0" rtlCol="0" anchor="ctr">
            <a:normAutofit/>
          </a:bodyPr>
          <a:lstStyle/>
          <a:p>
            <a:pPr marL="0" indent="0">
              <a:buNone/>
            </a:pPr>
            <a:r>
              <a:rPr lang="en-US" sz="740" dirty="0">
                <a:solidFill>
                  <a:srgbClr val="344054"/>
                </a:solidFill>
              </a:rPr>
              <a:t>Demand forecasting, EDA, charger utilization, off-peak uplift, waiting-time proxy</a:t>
            </a:r>
            <a:endParaRPr lang="en-US" sz="740" dirty="0"/>
          </a:p>
        </p:txBody>
      </p:sp>
      <p:sp>
        <p:nvSpPr>
          <p:cNvPr id="15" name="Shape 13"/>
          <p:cNvSpPr/>
          <p:nvPr/>
        </p:nvSpPr>
        <p:spPr>
          <a:xfrm>
            <a:off x="6675120" y="1764792"/>
            <a:ext cx="5074920" cy="347472"/>
          </a:xfrm>
          <a:prstGeom prst="rect">
            <a:avLst/>
          </a:prstGeom>
          <a:solidFill>
            <a:srgbClr val="FFFFFF"/>
          </a:solidFill>
          <a:ln w="6350">
            <a:solidFill>
              <a:srgbClr val="D0D5DD"/>
            </a:solidFill>
            <a:prstDash val="solid"/>
          </a:ln>
        </p:spPr>
      </p:sp>
      <p:sp>
        <p:nvSpPr>
          <p:cNvPr id="16" name="Text 14"/>
          <p:cNvSpPr/>
          <p:nvPr/>
        </p:nvSpPr>
        <p:spPr>
          <a:xfrm>
            <a:off x="6739128" y="1842516"/>
            <a:ext cx="4946904" cy="164592"/>
          </a:xfrm>
          <a:prstGeom prst="rect">
            <a:avLst/>
          </a:prstGeom>
          <a:noFill/>
          <a:ln/>
        </p:spPr>
        <p:txBody>
          <a:bodyPr wrap="square" lIns="0" tIns="0" rIns="0" bIns="0" rtlCol="0" anchor="ctr">
            <a:normAutofit/>
          </a:bodyPr>
          <a:lstStyle/>
          <a:p>
            <a:pPr marL="0" indent="0">
              <a:buNone/>
            </a:pPr>
            <a:r>
              <a:rPr lang="en-US" sz="740" dirty="0">
                <a:solidFill>
                  <a:srgbClr val="344054"/>
                </a:solidFill>
              </a:rPr>
              <a:t>Large-scale urban charging data with time, zone, price, occupancy, and volume signals</a:t>
            </a:r>
            <a:endParaRPr lang="en-US" sz="740" dirty="0"/>
          </a:p>
        </p:txBody>
      </p:sp>
      <p:sp>
        <p:nvSpPr>
          <p:cNvPr id="17" name="Shape 15"/>
          <p:cNvSpPr/>
          <p:nvPr/>
        </p:nvSpPr>
        <p:spPr>
          <a:xfrm>
            <a:off x="685800" y="2112264"/>
            <a:ext cx="1417320" cy="347472"/>
          </a:xfrm>
          <a:prstGeom prst="rect">
            <a:avLst/>
          </a:prstGeom>
          <a:solidFill>
            <a:srgbClr val="F6F7F9"/>
          </a:solidFill>
          <a:ln w="6350">
            <a:solidFill>
              <a:srgbClr val="D0D5DD"/>
            </a:solidFill>
            <a:prstDash val="solid"/>
          </a:ln>
        </p:spPr>
      </p:sp>
      <p:sp>
        <p:nvSpPr>
          <p:cNvPr id="18" name="Text 16"/>
          <p:cNvSpPr/>
          <p:nvPr/>
        </p:nvSpPr>
        <p:spPr>
          <a:xfrm>
            <a:off x="749808" y="2189988"/>
            <a:ext cx="1289304" cy="164592"/>
          </a:xfrm>
          <a:prstGeom prst="rect">
            <a:avLst/>
          </a:prstGeom>
          <a:noFill/>
          <a:ln/>
        </p:spPr>
        <p:txBody>
          <a:bodyPr wrap="square" lIns="0" tIns="0" rIns="0" bIns="0" rtlCol="0" anchor="ctr">
            <a:normAutofit/>
          </a:bodyPr>
          <a:lstStyle/>
          <a:p>
            <a:pPr marL="0" indent="0">
              <a:buNone/>
            </a:pPr>
            <a:r>
              <a:rPr lang="en-US" sz="740" dirty="0">
                <a:solidFill>
                  <a:srgbClr val="344054"/>
                </a:solidFill>
              </a:rPr>
              <a:t>ACN-Data</a:t>
            </a:r>
            <a:endParaRPr lang="en-US" sz="740" dirty="0"/>
          </a:p>
        </p:txBody>
      </p:sp>
      <p:sp>
        <p:nvSpPr>
          <p:cNvPr id="19" name="Shape 17"/>
          <p:cNvSpPr/>
          <p:nvPr/>
        </p:nvSpPr>
        <p:spPr>
          <a:xfrm>
            <a:off x="2103120" y="2112264"/>
            <a:ext cx="4572000" cy="347472"/>
          </a:xfrm>
          <a:prstGeom prst="rect">
            <a:avLst/>
          </a:prstGeom>
          <a:solidFill>
            <a:srgbClr val="F6F7F9"/>
          </a:solidFill>
          <a:ln w="6350">
            <a:solidFill>
              <a:srgbClr val="D0D5DD"/>
            </a:solidFill>
            <a:prstDash val="solid"/>
          </a:ln>
        </p:spPr>
      </p:sp>
      <p:sp>
        <p:nvSpPr>
          <p:cNvPr id="20" name="Text 18"/>
          <p:cNvSpPr/>
          <p:nvPr/>
        </p:nvSpPr>
        <p:spPr>
          <a:xfrm>
            <a:off x="2167128" y="2189988"/>
            <a:ext cx="4443984" cy="164592"/>
          </a:xfrm>
          <a:prstGeom prst="rect">
            <a:avLst/>
          </a:prstGeom>
          <a:noFill/>
          <a:ln/>
        </p:spPr>
        <p:txBody>
          <a:bodyPr wrap="square" lIns="0" tIns="0" rIns="0" bIns="0" rtlCol="0" anchor="ctr">
            <a:normAutofit/>
          </a:bodyPr>
          <a:lstStyle/>
          <a:p>
            <a:pPr marL="0" indent="0">
              <a:buNone/>
            </a:pPr>
            <a:r>
              <a:rPr lang="en-US" sz="740" dirty="0">
                <a:solidFill>
                  <a:srgbClr val="344054"/>
                </a:solidFill>
              </a:rPr>
              <a:t>Revenue gain, customer response simulation, pricing efficiency</a:t>
            </a:r>
            <a:endParaRPr lang="en-US" sz="740" dirty="0"/>
          </a:p>
        </p:txBody>
      </p:sp>
      <p:sp>
        <p:nvSpPr>
          <p:cNvPr id="21" name="Shape 19"/>
          <p:cNvSpPr/>
          <p:nvPr/>
        </p:nvSpPr>
        <p:spPr>
          <a:xfrm>
            <a:off x="6675120" y="2112264"/>
            <a:ext cx="5074920" cy="347472"/>
          </a:xfrm>
          <a:prstGeom prst="rect">
            <a:avLst/>
          </a:prstGeom>
          <a:solidFill>
            <a:srgbClr val="F6F7F9"/>
          </a:solidFill>
          <a:ln w="6350">
            <a:solidFill>
              <a:srgbClr val="D0D5DD"/>
            </a:solidFill>
            <a:prstDash val="solid"/>
          </a:ln>
        </p:spPr>
      </p:sp>
      <p:sp>
        <p:nvSpPr>
          <p:cNvPr id="22" name="Text 20"/>
          <p:cNvSpPr/>
          <p:nvPr/>
        </p:nvSpPr>
        <p:spPr>
          <a:xfrm>
            <a:off x="6739128" y="2189988"/>
            <a:ext cx="4946904" cy="164592"/>
          </a:xfrm>
          <a:prstGeom prst="rect">
            <a:avLst/>
          </a:prstGeom>
          <a:noFill/>
          <a:ln/>
        </p:spPr>
        <p:txBody>
          <a:bodyPr wrap="square" lIns="0" tIns="0" rIns="0" bIns="0" rtlCol="0" anchor="ctr">
            <a:normAutofit/>
          </a:bodyPr>
          <a:lstStyle/>
          <a:p>
            <a:pPr marL="0" indent="0">
              <a:buNone/>
            </a:pPr>
            <a:r>
              <a:rPr lang="en-US" sz="740" dirty="0">
                <a:solidFill>
                  <a:srgbClr val="344054"/>
                </a:solidFill>
              </a:rPr>
              <a:t>Session-level charging data with energy delivered, connection time, duration, and station/user behavior</a:t>
            </a:r>
            <a:endParaRPr lang="en-US" sz="740" dirty="0"/>
          </a:p>
        </p:txBody>
      </p:sp>
      <p:sp>
        <p:nvSpPr>
          <p:cNvPr id="23" name="Text 21"/>
          <p:cNvSpPr/>
          <p:nvPr/>
        </p:nvSpPr>
        <p:spPr>
          <a:xfrm>
            <a:off x="713232" y="2880360"/>
            <a:ext cx="3657600" cy="201168"/>
          </a:xfrm>
          <a:prstGeom prst="rect">
            <a:avLst/>
          </a:prstGeom>
          <a:noFill/>
          <a:ln/>
        </p:spPr>
        <p:txBody>
          <a:bodyPr wrap="square" lIns="0" tIns="0" rIns="0" bIns="0" rtlCol="0" anchor="ctr"/>
          <a:lstStyle/>
          <a:p>
            <a:pPr marL="0" indent="0">
              <a:buNone/>
            </a:pPr>
            <a:r>
              <a:rPr lang="en-US" sz="850" b="1" dirty="0">
                <a:solidFill>
                  <a:srgbClr val="2563EB"/>
                </a:solidFill>
              </a:rPr>
              <a:t>Preprocessing decisions</a:t>
            </a:r>
            <a:endParaRPr lang="en-US" sz="850" dirty="0"/>
          </a:p>
        </p:txBody>
      </p:sp>
      <p:sp>
        <p:nvSpPr>
          <p:cNvPr id="24" name="Shape 22"/>
          <p:cNvSpPr/>
          <p:nvPr/>
        </p:nvSpPr>
        <p:spPr>
          <a:xfrm>
            <a:off x="777240" y="3319272"/>
            <a:ext cx="64008" cy="64008"/>
          </a:xfrm>
          <a:prstGeom prst="ellipse">
            <a:avLst/>
          </a:prstGeom>
          <a:solidFill>
            <a:srgbClr val="2563EB"/>
          </a:solidFill>
          <a:ln w="12700">
            <a:solidFill>
              <a:srgbClr val="2563EB"/>
            </a:solidFill>
            <a:prstDash val="solid"/>
          </a:ln>
        </p:spPr>
      </p:sp>
      <p:sp>
        <p:nvSpPr>
          <p:cNvPr id="25" name="Text 23"/>
          <p:cNvSpPr/>
          <p:nvPr/>
        </p:nvSpPr>
        <p:spPr>
          <a:xfrm>
            <a:off x="941832" y="3246120"/>
            <a:ext cx="10332720" cy="384048"/>
          </a:xfrm>
          <a:prstGeom prst="rect">
            <a:avLst/>
          </a:prstGeom>
          <a:noFill/>
          <a:ln/>
        </p:spPr>
        <p:txBody>
          <a:bodyPr wrap="square" lIns="0" tIns="0" rIns="0" bIns="0" rtlCol="0" anchor="t">
            <a:normAutofit/>
          </a:bodyPr>
          <a:lstStyle/>
          <a:p>
            <a:pPr marL="0" indent="0">
              <a:buNone/>
            </a:pPr>
            <a:r>
              <a:rPr lang="en-US" sz="960" dirty="0">
                <a:solidFill>
                  <a:srgbClr val="344054"/>
                </a:solidFill>
              </a:rPr>
              <a:t>UrbanEV records are converted into utilization features by timestamp and zone, then aggregated for hourly demand forecasting.</a:t>
            </a:r>
            <a:endParaRPr lang="en-US" sz="960" dirty="0"/>
          </a:p>
        </p:txBody>
      </p:sp>
      <p:sp>
        <p:nvSpPr>
          <p:cNvPr id="26" name="Shape 24"/>
          <p:cNvSpPr/>
          <p:nvPr/>
        </p:nvSpPr>
        <p:spPr>
          <a:xfrm>
            <a:off x="777240" y="3739896"/>
            <a:ext cx="64008" cy="64008"/>
          </a:xfrm>
          <a:prstGeom prst="ellipse">
            <a:avLst/>
          </a:prstGeom>
          <a:solidFill>
            <a:srgbClr val="2563EB"/>
          </a:solidFill>
          <a:ln w="12700">
            <a:solidFill>
              <a:srgbClr val="2563EB"/>
            </a:solidFill>
            <a:prstDash val="solid"/>
          </a:ln>
        </p:spPr>
      </p:sp>
      <p:sp>
        <p:nvSpPr>
          <p:cNvPr id="27" name="Text 25"/>
          <p:cNvSpPr/>
          <p:nvPr/>
        </p:nvSpPr>
        <p:spPr>
          <a:xfrm>
            <a:off x="941832" y="3666744"/>
            <a:ext cx="10332720" cy="384048"/>
          </a:xfrm>
          <a:prstGeom prst="rect">
            <a:avLst/>
          </a:prstGeom>
          <a:noFill/>
          <a:ln/>
        </p:spPr>
        <p:txBody>
          <a:bodyPr wrap="square" lIns="0" tIns="0" rIns="0" bIns="0" rtlCol="0" anchor="t">
            <a:normAutofit/>
          </a:bodyPr>
          <a:lstStyle/>
          <a:p>
            <a:pPr marL="0" indent="0">
              <a:buNone/>
            </a:pPr>
            <a:r>
              <a:rPr lang="en-US" sz="960" dirty="0">
                <a:solidFill>
                  <a:srgbClr val="344054"/>
                </a:solidFill>
              </a:rPr>
              <a:t>ACN sessions are cleaned into energy, duration, idle-time, and hourly session-demand features for tariff revenue evaluation.</a:t>
            </a:r>
            <a:endParaRPr lang="en-US" sz="960" dirty="0"/>
          </a:p>
        </p:txBody>
      </p:sp>
      <p:sp>
        <p:nvSpPr>
          <p:cNvPr id="28" name="Shape 26"/>
          <p:cNvSpPr/>
          <p:nvPr/>
        </p:nvSpPr>
        <p:spPr>
          <a:xfrm>
            <a:off x="777240" y="4160520"/>
            <a:ext cx="64008" cy="64008"/>
          </a:xfrm>
          <a:prstGeom prst="ellipse">
            <a:avLst/>
          </a:prstGeom>
          <a:solidFill>
            <a:srgbClr val="2563EB"/>
          </a:solidFill>
          <a:ln w="12700">
            <a:solidFill>
              <a:srgbClr val="2563EB"/>
            </a:solidFill>
            <a:prstDash val="solid"/>
          </a:ln>
        </p:spPr>
      </p:sp>
      <p:sp>
        <p:nvSpPr>
          <p:cNvPr id="29" name="Text 27"/>
          <p:cNvSpPr/>
          <p:nvPr/>
        </p:nvSpPr>
        <p:spPr>
          <a:xfrm>
            <a:off x="941832" y="4087368"/>
            <a:ext cx="10332720" cy="384048"/>
          </a:xfrm>
          <a:prstGeom prst="rect">
            <a:avLst/>
          </a:prstGeom>
          <a:noFill/>
          <a:ln/>
        </p:spPr>
        <p:txBody>
          <a:bodyPr wrap="square" lIns="0" tIns="0" rIns="0" bIns="0" rtlCol="0" anchor="t">
            <a:normAutofit/>
          </a:bodyPr>
          <a:lstStyle/>
          <a:p>
            <a:pPr marL="0" indent="0">
              <a:buNone/>
            </a:pPr>
            <a:r>
              <a:rPr lang="en-US" sz="960" dirty="0">
                <a:solidFill>
                  <a:srgbClr val="344054"/>
                </a:solidFill>
              </a:rPr>
              <a:t>Currencies are kept separate: UrbanEV is used for utilization behavior and ACN revenue is reported in USD.</a:t>
            </a:r>
            <a:endParaRPr lang="en-US" sz="960" dirty="0"/>
          </a:p>
        </p:txBody>
      </p:sp>
      <p:sp>
        <p:nvSpPr>
          <p:cNvPr id="30" name="Shape 28"/>
          <p:cNvSpPr/>
          <p:nvPr/>
        </p:nvSpPr>
        <p:spPr>
          <a:xfrm>
            <a:off x="777240" y="4581144"/>
            <a:ext cx="64008" cy="64008"/>
          </a:xfrm>
          <a:prstGeom prst="ellipse">
            <a:avLst/>
          </a:prstGeom>
          <a:solidFill>
            <a:srgbClr val="2563EB"/>
          </a:solidFill>
          <a:ln w="12700">
            <a:solidFill>
              <a:srgbClr val="2563EB"/>
            </a:solidFill>
            <a:prstDash val="solid"/>
          </a:ln>
        </p:spPr>
      </p:sp>
      <p:sp>
        <p:nvSpPr>
          <p:cNvPr id="31" name="Text 29"/>
          <p:cNvSpPr/>
          <p:nvPr/>
        </p:nvSpPr>
        <p:spPr>
          <a:xfrm>
            <a:off x="941832" y="4507992"/>
            <a:ext cx="10332720" cy="384048"/>
          </a:xfrm>
          <a:prstGeom prst="rect">
            <a:avLst/>
          </a:prstGeom>
          <a:noFill/>
          <a:ln/>
        </p:spPr>
        <p:txBody>
          <a:bodyPr wrap="square" lIns="0" tIns="0" rIns="0" bIns="0" rtlCol="0" anchor="t">
            <a:normAutofit/>
          </a:bodyPr>
          <a:lstStyle/>
          <a:p>
            <a:pPr marL="0" indent="0">
              <a:buNone/>
            </a:pPr>
            <a:r>
              <a:rPr lang="en-US" sz="960" dirty="0">
                <a:solidFill>
                  <a:srgbClr val="344054"/>
                </a:solidFill>
              </a:rPr>
              <a:t>The processed files are generated locally by Notebook 1; large processed CSVs are not pushed to GitHub.</a:t>
            </a:r>
            <a:endParaRPr lang="en-US" sz="960" dirty="0"/>
          </a:p>
        </p:txBody>
      </p:sp>
      <p:sp>
        <p:nvSpPr>
          <p:cNvPr id="32" name="Text 30"/>
          <p:cNvSpPr/>
          <p:nvPr/>
        </p:nvSpPr>
        <p:spPr>
          <a:xfrm>
            <a:off x="713232" y="5212080"/>
            <a:ext cx="3657600" cy="201168"/>
          </a:xfrm>
          <a:prstGeom prst="rect">
            <a:avLst/>
          </a:prstGeom>
          <a:noFill/>
          <a:ln/>
        </p:spPr>
        <p:txBody>
          <a:bodyPr wrap="square" lIns="0" tIns="0" rIns="0" bIns="0" rtlCol="0" anchor="ctr"/>
          <a:lstStyle/>
          <a:p>
            <a:pPr marL="0" indent="0">
              <a:buNone/>
            </a:pPr>
            <a:r>
              <a:rPr lang="en-US" sz="850" b="1" dirty="0">
                <a:solidFill>
                  <a:srgbClr val="16803C"/>
                </a:solidFill>
              </a:rPr>
              <a:t>Why this is acceptable</a:t>
            </a:r>
            <a:endParaRPr lang="en-US" sz="850" dirty="0"/>
          </a:p>
        </p:txBody>
      </p:sp>
      <p:sp>
        <p:nvSpPr>
          <p:cNvPr id="33" name="Text 31"/>
          <p:cNvSpPr/>
          <p:nvPr/>
        </p:nvSpPr>
        <p:spPr>
          <a:xfrm>
            <a:off x="777240" y="5532120"/>
            <a:ext cx="10241280" cy="731520"/>
          </a:xfrm>
          <a:prstGeom prst="rect">
            <a:avLst/>
          </a:prstGeom>
          <a:noFill/>
          <a:ln/>
        </p:spPr>
        <p:txBody>
          <a:bodyPr wrap="square" lIns="0" tIns="0" rIns="0" bIns="0" rtlCol="0" anchor="t">
            <a:normAutofit/>
          </a:bodyPr>
          <a:lstStyle/>
          <a:p>
            <a:pPr marL="0" indent="0">
              <a:buNone/>
            </a:pPr>
            <a:r>
              <a:rPr lang="en-US" sz="1020" dirty="0">
                <a:solidFill>
                  <a:srgbClr val="344054"/>
                </a:solidFill>
              </a:rPr>
              <a:t>The problem statement allows the datasets to be used according to relevance. This project uses each dataset where it is strongest instead of forcing them into one combined country/currency model.</a:t>
            </a:r>
            <a:endParaRPr lang="en-US" sz="1020" dirty="0"/>
          </a:p>
        </p:txBody>
      </p:sp>
      <p:sp>
        <p:nvSpPr>
          <p:cNvPr id="34" name="Text 32"/>
          <p:cNvSpPr/>
          <p:nvPr/>
        </p:nvSpPr>
        <p:spPr>
          <a:xfrm>
            <a:off x="502920" y="6492240"/>
            <a:ext cx="11155680" cy="182880"/>
          </a:xfrm>
          <a:prstGeom prst="rect">
            <a:avLst/>
          </a:prstGeom>
          <a:noFill/>
          <a:ln/>
        </p:spPr>
        <p:txBody>
          <a:bodyPr wrap="square" lIns="0" tIns="0" rIns="0" bIns="0" rtlCol="0" anchor="ctr"/>
          <a:lstStyle/>
          <a:p>
            <a:pPr marL="0" indent="0">
              <a:buNone/>
            </a:pPr>
            <a:r>
              <a:rPr lang="en-US" sz="750" dirty="0">
                <a:solidFill>
                  <a:srgbClr val="98A2B3"/>
                </a:solidFill>
              </a:rPr>
              <a:t>EV Dynamic Tariff Optimization | 3</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274320"/>
            <a:ext cx="11155680" cy="201168"/>
          </a:xfrm>
          <a:prstGeom prst="rect">
            <a:avLst/>
          </a:prstGeom>
          <a:noFill/>
          <a:ln/>
        </p:spPr>
        <p:txBody>
          <a:bodyPr wrap="square" lIns="0" tIns="0" rIns="0" bIns="0" rtlCol="0" anchor="ctr"/>
          <a:lstStyle/>
          <a:p>
            <a:pPr marL="0" indent="0">
              <a:buNone/>
            </a:pPr>
            <a:r>
              <a:rPr lang="en-US" sz="850" b="1" dirty="0">
                <a:solidFill>
                  <a:srgbClr val="667085"/>
                </a:solidFill>
              </a:rPr>
              <a:t>03 | EDA insights</a:t>
            </a:r>
            <a:endParaRPr lang="en-US" sz="850" dirty="0"/>
          </a:p>
        </p:txBody>
      </p:sp>
      <p:sp>
        <p:nvSpPr>
          <p:cNvPr id="3" name="Text 1"/>
          <p:cNvSpPr/>
          <p:nvPr/>
        </p:nvSpPr>
        <p:spPr>
          <a:xfrm>
            <a:off x="502920" y="566928"/>
            <a:ext cx="11064240" cy="457200"/>
          </a:xfrm>
          <a:prstGeom prst="rect">
            <a:avLst/>
          </a:prstGeom>
          <a:noFill/>
          <a:ln/>
        </p:spPr>
        <p:txBody>
          <a:bodyPr wrap="square" lIns="0" tIns="0" rIns="0" bIns="0" rtlCol="0" anchor="ctr">
            <a:normAutofit/>
          </a:bodyPr>
          <a:lstStyle/>
          <a:p>
            <a:pPr marL="0" indent="0">
              <a:buNone/>
            </a:pPr>
            <a:r>
              <a:rPr lang="en-US" sz="2200" b="1" dirty="0">
                <a:solidFill>
                  <a:srgbClr val="1F2937"/>
                </a:solidFill>
              </a:rPr>
              <a:t>Demand is predictable enough for tariff rules, but not uniform</a:t>
            </a:r>
            <a:endParaRPr lang="en-US" sz="2200" dirty="0"/>
          </a:p>
        </p:txBody>
      </p:sp>
      <p:sp>
        <p:nvSpPr>
          <p:cNvPr id="4" name="Shape 2"/>
          <p:cNvSpPr/>
          <p:nvPr/>
        </p:nvSpPr>
        <p:spPr>
          <a:xfrm>
            <a:off x="502920" y="1115568"/>
            <a:ext cx="11155680" cy="0"/>
          </a:xfrm>
          <a:prstGeom prst="line">
            <a:avLst/>
          </a:prstGeom>
          <a:noFill/>
          <a:ln w="12700">
            <a:solidFill>
              <a:srgbClr val="D0D5DD"/>
            </a:solidFill>
            <a:prstDash val="solid"/>
          </a:ln>
        </p:spPr>
      </p:sp>
      <p:pic>
        <p:nvPicPr>
          <p:cNvPr id="5" name="Image 0" descr="C:\Users\navya\OneDrive\Desktop\Socbiz_project\outputs\hourly_utilization.png"/>
          <p:cNvPicPr>
            <a:picLocks noChangeAspect="1"/>
          </p:cNvPicPr>
          <p:nvPr/>
        </p:nvPicPr>
        <p:blipFill>
          <a:blip r:embed="rId3"/>
          <a:stretch>
            <a:fillRect/>
          </a:stretch>
        </p:blipFill>
        <p:spPr>
          <a:xfrm>
            <a:off x="658368" y="1371600"/>
            <a:ext cx="5212080" cy="2560320"/>
          </a:xfrm>
          <a:prstGeom prst="rect">
            <a:avLst/>
          </a:prstGeom>
        </p:spPr>
      </p:pic>
      <p:pic>
        <p:nvPicPr>
          <p:cNvPr id="6" name="Image 1" descr="C:\Users\navya\OneDrive\Desktop\Socbiz_project\outputs\zone_utilization_dist.png"/>
          <p:cNvPicPr>
            <a:picLocks noChangeAspect="1"/>
          </p:cNvPicPr>
          <p:nvPr/>
        </p:nvPicPr>
        <p:blipFill>
          <a:blip r:embed="rId4"/>
          <a:stretch>
            <a:fillRect/>
          </a:stretch>
        </p:blipFill>
        <p:spPr>
          <a:xfrm>
            <a:off x="6309360" y="1371600"/>
            <a:ext cx="5074920" cy="2560320"/>
          </a:xfrm>
          <a:prstGeom prst="rect">
            <a:avLst/>
          </a:prstGeom>
        </p:spPr>
      </p:pic>
      <p:sp>
        <p:nvSpPr>
          <p:cNvPr id="7" name="Text 3"/>
          <p:cNvSpPr/>
          <p:nvPr/>
        </p:nvSpPr>
        <p:spPr>
          <a:xfrm>
            <a:off x="713232" y="4160520"/>
            <a:ext cx="3657600" cy="201168"/>
          </a:xfrm>
          <a:prstGeom prst="rect">
            <a:avLst/>
          </a:prstGeom>
          <a:noFill/>
          <a:ln/>
        </p:spPr>
        <p:txBody>
          <a:bodyPr wrap="square" lIns="0" tIns="0" rIns="0" bIns="0" rtlCol="0" anchor="ctr"/>
          <a:lstStyle/>
          <a:p>
            <a:pPr marL="0" indent="0">
              <a:buNone/>
            </a:pPr>
            <a:r>
              <a:rPr lang="en-US" sz="850" b="1" dirty="0">
                <a:solidFill>
                  <a:srgbClr val="2563EB"/>
                </a:solidFill>
              </a:rPr>
              <a:t>What the EDA shows</a:t>
            </a:r>
            <a:endParaRPr lang="en-US" sz="850" dirty="0"/>
          </a:p>
        </p:txBody>
      </p:sp>
      <p:sp>
        <p:nvSpPr>
          <p:cNvPr id="8" name="Shape 4"/>
          <p:cNvSpPr/>
          <p:nvPr/>
        </p:nvSpPr>
        <p:spPr>
          <a:xfrm>
            <a:off x="777240" y="4590288"/>
            <a:ext cx="64008" cy="64008"/>
          </a:xfrm>
          <a:prstGeom prst="ellipse">
            <a:avLst/>
          </a:prstGeom>
          <a:solidFill>
            <a:srgbClr val="2563EB"/>
          </a:solidFill>
          <a:ln w="12700">
            <a:solidFill>
              <a:srgbClr val="2563EB"/>
            </a:solidFill>
            <a:prstDash val="solid"/>
          </a:ln>
        </p:spPr>
      </p:sp>
      <p:sp>
        <p:nvSpPr>
          <p:cNvPr id="9" name="Text 5"/>
          <p:cNvSpPr/>
          <p:nvPr/>
        </p:nvSpPr>
        <p:spPr>
          <a:xfrm>
            <a:off x="941832" y="4517136"/>
            <a:ext cx="10241280" cy="347472"/>
          </a:xfrm>
          <a:prstGeom prst="rect">
            <a:avLst/>
          </a:prstGeom>
          <a:noFill/>
          <a:ln/>
        </p:spPr>
        <p:txBody>
          <a:bodyPr wrap="square" lIns="0" tIns="0" rIns="0" bIns="0" rtlCol="0" anchor="t">
            <a:normAutofit/>
          </a:bodyPr>
          <a:lstStyle/>
          <a:p>
            <a:pPr marL="0" indent="0">
              <a:buNone/>
            </a:pPr>
            <a:r>
              <a:rPr lang="en-US" sz="940" dirty="0">
                <a:solidFill>
                  <a:srgbClr val="344054"/>
                </a:solidFill>
              </a:rPr>
              <a:t>Charging utilization follows a clear intraday pattern, so time-aware pricing has a meaningful signal to work with.</a:t>
            </a:r>
            <a:endParaRPr lang="en-US" sz="940" dirty="0"/>
          </a:p>
        </p:txBody>
      </p:sp>
      <p:sp>
        <p:nvSpPr>
          <p:cNvPr id="10" name="Shape 6"/>
          <p:cNvSpPr/>
          <p:nvPr/>
        </p:nvSpPr>
        <p:spPr>
          <a:xfrm>
            <a:off x="777240" y="4974336"/>
            <a:ext cx="64008" cy="64008"/>
          </a:xfrm>
          <a:prstGeom prst="ellipse">
            <a:avLst/>
          </a:prstGeom>
          <a:solidFill>
            <a:srgbClr val="2563EB"/>
          </a:solidFill>
          <a:ln w="12700">
            <a:solidFill>
              <a:srgbClr val="2563EB"/>
            </a:solidFill>
            <a:prstDash val="solid"/>
          </a:ln>
        </p:spPr>
      </p:sp>
      <p:sp>
        <p:nvSpPr>
          <p:cNvPr id="11" name="Text 7"/>
          <p:cNvSpPr/>
          <p:nvPr/>
        </p:nvSpPr>
        <p:spPr>
          <a:xfrm>
            <a:off x="941832" y="4901184"/>
            <a:ext cx="10241280" cy="347472"/>
          </a:xfrm>
          <a:prstGeom prst="rect">
            <a:avLst/>
          </a:prstGeom>
          <a:noFill/>
          <a:ln/>
        </p:spPr>
        <p:txBody>
          <a:bodyPr wrap="square" lIns="0" tIns="0" rIns="0" bIns="0" rtlCol="0" anchor="t">
            <a:normAutofit/>
          </a:bodyPr>
          <a:lstStyle/>
          <a:p>
            <a:pPr marL="0" indent="0">
              <a:buNone/>
            </a:pPr>
            <a:r>
              <a:rPr lang="en-US" sz="940" dirty="0">
                <a:solidFill>
                  <a:srgbClr val="344054"/>
                </a:solidFill>
              </a:rPr>
              <a:t>Weekday/weekend behavior differs, which supports using temporal features instead of a single average demand level.</a:t>
            </a:r>
            <a:endParaRPr lang="en-US" sz="940" dirty="0"/>
          </a:p>
        </p:txBody>
      </p:sp>
      <p:sp>
        <p:nvSpPr>
          <p:cNvPr id="12" name="Shape 8"/>
          <p:cNvSpPr/>
          <p:nvPr/>
        </p:nvSpPr>
        <p:spPr>
          <a:xfrm>
            <a:off x="777240" y="5358384"/>
            <a:ext cx="64008" cy="64008"/>
          </a:xfrm>
          <a:prstGeom prst="ellipse">
            <a:avLst/>
          </a:prstGeom>
          <a:solidFill>
            <a:srgbClr val="2563EB"/>
          </a:solidFill>
          <a:ln w="12700">
            <a:solidFill>
              <a:srgbClr val="2563EB"/>
            </a:solidFill>
            <a:prstDash val="solid"/>
          </a:ln>
        </p:spPr>
      </p:sp>
      <p:sp>
        <p:nvSpPr>
          <p:cNvPr id="13" name="Text 9"/>
          <p:cNvSpPr/>
          <p:nvPr/>
        </p:nvSpPr>
        <p:spPr>
          <a:xfrm>
            <a:off x="941832" y="5285232"/>
            <a:ext cx="10241280" cy="347472"/>
          </a:xfrm>
          <a:prstGeom prst="rect">
            <a:avLst/>
          </a:prstGeom>
          <a:noFill/>
          <a:ln/>
        </p:spPr>
        <p:txBody>
          <a:bodyPr wrap="square" lIns="0" tIns="0" rIns="0" bIns="0" rtlCol="0" anchor="t">
            <a:normAutofit/>
          </a:bodyPr>
          <a:lstStyle/>
          <a:p>
            <a:pPr marL="0" indent="0">
              <a:buNone/>
            </a:pPr>
            <a:r>
              <a:rPr lang="en-US" sz="940" dirty="0">
                <a:solidFill>
                  <a:srgbClr val="344054"/>
                </a:solidFill>
              </a:rPr>
              <a:t>Zone-level utilization is uneven: many zones are persistently underused, while short intervals can still become congested.</a:t>
            </a:r>
            <a:endParaRPr lang="en-US" sz="940" dirty="0"/>
          </a:p>
        </p:txBody>
      </p:sp>
      <p:sp>
        <p:nvSpPr>
          <p:cNvPr id="14" name="Shape 10"/>
          <p:cNvSpPr/>
          <p:nvPr/>
        </p:nvSpPr>
        <p:spPr>
          <a:xfrm>
            <a:off x="777240" y="5742432"/>
            <a:ext cx="64008" cy="64008"/>
          </a:xfrm>
          <a:prstGeom prst="ellipse">
            <a:avLst/>
          </a:prstGeom>
          <a:solidFill>
            <a:srgbClr val="2563EB"/>
          </a:solidFill>
          <a:ln w="12700">
            <a:solidFill>
              <a:srgbClr val="2563EB"/>
            </a:solidFill>
            <a:prstDash val="solid"/>
          </a:ln>
        </p:spPr>
      </p:sp>
      <p:sp>
        <p:nvSpPr>
          <p:cNvPr id="15" name="Text 11"/>
          <p:cNvSpPr/>
          <p:nvPr/>
        </p:nvSpPr>
        <p:spPr>
          <a:xfrm>
            <a:off x="941832" y="5669280"/>
            <a:ext cx="10241280" cy="347472"/>
          </a:xfrm>
          <a:prstGeom prst="rect">
            <a:avLst/>
          </a:prstGeom>
          <a:noFill/>
          <a:ln/>
        </p:spPr>
        <p:txBody>
          <a:bodyPr wrap="square" lIns="0" tIns="0" rIns="0" bIns="0" rtlCol="0" anchor="t">
            <a:normAutofit/>
          </a:bodyPr>
          <a:lstStyle/>
          <a:p>
            <a:pPr marL="0" indent="0">
              <a:buNone/>
            </a:pPr>
            <a:r>
              <a:rPr lang="en-US" sz="940" dirty="0">
                <a:solidFill>
                  <a:srgbClr val="344054"/>
                </a:solidFill>
              </a:rPr>
              <a:t>The policy therefore needs both discounts for spare capacity and surge signals for peak pressure.</a:t>
            </a:r>
            <a:endParaRPr lang="en-US" sz="940" dirty="0"/>
          </a:p>
        </p:txBody>
      </p:sp>
      <p:sp>
        <p:nvSpPr>
          <p:cNvPr id="16" name="Text 12"/>
          <p:cNvSpPr/>
          <p:nvPr/>
        </p:nvSpPr>
        <p:spPr>
          <a:xfrm>
            <a:off x="502920" y="6492240"/>
            <a:ext cx="11155680" cy="182880"/>
          </a:xfrm>
          <a:prstGeom prst="rect">
            <a:avLst/>
          </a:prstGeom>
          <a:noFill/>
          <a:ln/>
        </p:spPr>
        <p:txBody>
          <a:bodyPr wrap="square" lIns="0" tIns="0" rIns="0" bIns="0" rtlCol="0" anchor="ctr"/>
          <a:lstStyle/>
          <a:p>
            <a:pPr marL="0" indent="0">
              <a:buNone/>
            </a:pPr>
            <a:r>
              <a:rPr lang="en-US" sz="750" dirty="0">
                <a:solidFill>
                  <a:srgbClr val="98A2B3"/>
                </a:solidFill>
              </a:rPr>
              <a:t>EV Dynamic Tariff Optimization | 4</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274320"/>
            <a:ext cx="11155680" cy="201168"/>
          </a:xfrm>
          <a:prstGeom prst="rect">
            <a:avLst/>
          </a:prstGeom>
          <a:noFill/>
          <a:ln/>
        </p:spPr>
        <p:txBody>
          <a:bodyPr wrap="square" lIns="0" tIns="0" rIns="0" bIns="0" rtlCol="0" anchor="ctr"/>
          <a:lstStyle/>
          <a:p>
            <a:pPr marL="0" indent="0">
              <a:buNone/>
            </a:pPr>
            <a:r>
              <a:rPr lang="en-US" sz="850" b="1" dirty="0">
                <a:solidFill>
                  <a:srgbClr val="667085"/>
                </a:solidFill>
              </a:rPr>
              <a:t>04 | Demand prediction agent</a:t>
            </a:r>
            <a:endParaRPr lang="en-US" sz="850" dirty="0"/>
          </a:p>
        </p:txBody>
      </p:sp>
      <p:sp>
        <p:nvSpPr>
          <p:cNvPr id="3" name="Text 1"/>
          <p:cNvSpPr/>
          <p:nvPr/>
        </p:nvSpPr>
        <p:spPr>
          <a:xfrm>
            <a:off x="502920" y="566928"/>
            <a:ext cx="11064240" cy="457200"/>
          </a:xfrm>
          <a:prstGeom prst="rect">
            <a:avLst/>
          </a:prstGeom>
          <a:noFill/>
          <a:ln/>
        </p:spPr>
        <p:txBody>
          <a:bodyPr wrap="square" lIns="0" tIns="0" rIns="0" bIns="0" rtlCol="0" anchor="ctr">
            <a:normAutofit/>
          </a:bodyPr>
          <a:lstStyle/>
          <a:p>
            <a:pPr marL="0" indent="0">
              <a:buNone/>
            </a:pPr>
            <a:r>
              <a:rPr lang="en-US" sz="2200" b="1" dirty="0">
                <a:solidFill>
                  <a:srgbClr val="1F2937"/>
                </a:solidFill>
              </a:rPr>
              <a:t>Forecasted utilization becomes the input to pricing</a:t>
            </a:r>
            <a:endParaRPr lang="en-US" sz="2200" dirty="0"/>
          </a:p>
        </p:txBody>
      </p:sp>
      <p:sp>
        <p:nvSpPr>
          <p:cNvPr id="4" name="Shape 2"/>
          <p:cNvSpPr/>
          <p:nvPr/>
        </p:nvSpPr>
        <p:spPr>
          <a:xfrm>
            <a:off x="502920" y="1115568"/>
            <a:ext cx="11155680" cy="0"/>
          </a:xfrm>
          <a:prstGeom prst="line">
            <a:avLst/>
          </a:prstGeom>
          <a:noFill/>
          <a:ln w="12700">
            <a:solidFill>
              <a:srgbClr val="D0D5DD"/>
            </a:solidFill>
            <a:prstDash val="solid"/>
          </a:ln>
        </p:spPr>
      </p:sp>
      <p:sp>
        <p:nvSpPr>
          <p:cNvPr id="5" name="Text 3"/>
          <p:cNvSpPr/>
          <p:nvPr/>
        </p:nvSpPr>
        <p:spPr>
          <a:xfrm>
            <a:off x="658368" y="1325880"/>
            <a:ext cx="10424160" cy="731520"/>
          </a:xfrm>
          <a:prstGeom prst="rect">
            <a:avLst/>
          </a:prstGeom>
          <a:noFill/>
          <a:ln/>
        </p:spPr>
        <p:txBody>
          <a:bodyPr wrap="square" lIns="0" tIns="0" rIns="0" bIns="0" rtlCol="0" anchor="t">
            <a:normAutofit/>
          </a:bodyPr>
          <a:lstStyle/>
          <a:p>
            <a:pPr marL="0" indent="0">
              <a:buNone/>
            </a:pPr>
            <a:r>
              <a:rPr lang="en-US" sz="1080" dirty="0">
                <a:solidFill>
                  <a:srgbClr val="344054"/>
                </a:solidFill>
              </a:rPr>
              <a:t>The demand prediction agent predicts one-hour-ahead utilization from time, zone, price, lag utilization, rolling utilization, and rolling volume features. Three models were compared so the final model choice is evidence-based rather than assumed.</a:t>
            </a:r>
            <a:endParaRPr lang="en-US" sz="1080" dirty="0"/>
          </a:p>
        </p:txBody>
      </p:sp>
      <p:pic>
        <p:nvPicPr>
          <p:cNvPr id="6" name="Image 0" descr="C:\Users\navya\OneDrive\Desktop\Socbiz_project\outputs\demand_prediction_results.png"/>
          <p:cNvPicPr>
            <a:picLocks noChangeAspect="1"/>
          </p:cNvPicPr>
          <p:nvPr/>
        </p:nvPicPr>
        <p:blipFill>
          <a:blip r:embed="rId3"/>
          <a:stretch>
            <a:fillRect/>
          </a:stretch>
        </p:blipFill>
        <p:spPr>
          <a:xfrm>
            <a:off x="685800" y="2148840"/>
            <a:ext cx="4937760" cy="2514600"/>
          </a:xfrm>
          <a:prstGeom prst="rect">
            <a:avLst/>
          </a:prstGeom>
        </p:spPr>
      </p:pic>
      <p:pic>
        <p:nvPicPr>
          <p:cNvPr id="7" name="Image 1" descr="C:\Users\navya\OneDrive\Desktop\Socbiz_project\outputs\feature_importance.png"/>
          <p:cNvPicPr>
            <a:picLocks noChangeAspect="1"/>
          </p:cNvPicPr>
          <p:nvPr/>
        </p:nvPicPr>
        <p:blipFill>
          <a:blip r:embed="rId4"/>
          <a:stretch>
            <a:fillRect/>
          </a:stretch>
        </p:blipFill>
        <p:spPr>
          <a:xfrm>
            <a:off x="6080760" y="2148840"/>
            <a:ext cx="5212080" cy="2514600"/>
          </a:xfrm>
          <a:prstGeom prst="rect">
            <a:avLst/>
          </a:prstGeom>
        </p:spPr>
      </p:pic>
      <p:sp>
        <p:nvSpPr>
          <p:cNvPr id="8" name="Shape 4"/>
          <p:cNvSpPr/>
          <p:nvPr/>
        </p:nvSpPr>
        <p:spPr>
          <a:xfrm>
            <a:off x="822960" y="5074920"/>
            <a:ext cx="2011680" cy="896112"/>
          </a:xfrm>
          <a:prstGeom prst="roundRect">
            <a:avLst>
              <a:gd name="adj" fmla="val 4082"/>
            </a:avLst>
          </a:prstGeom>
          <a:solidFill>
            <a:srgbClr val="EFF6FF"/>
          </a:solidFill>
          <a:ln w="10160">
            <a:solidFill>
              <a:srgbClr val="D0D5DD"/>
            </a:solidFill>
            <a:prstDash val="solid"/>
          </a:ln>
        </p:spPr>
      </p:sp>
      <p:sp>
        <p:nvSpPr>
          <p:cNvPr id="9" name="Text 5"/>
          <p:cNvSpPr/>
          <p:nvPr/>
        </p:nvSpPr>
        <p:spPr>
          <a:xfrm>
            <a:off x="969264" y="5193792"/>
            <a:ext cx="1719072" cy="228600"/>
          </a:xfrm>
          <a:prstGeom prst="rect">
            <a:avLst/>
          </a:prstGeom>
          <a:noFill/>
          <a:ln/>
        </p:spPr>
        <p:txBody>
          <a:bodyPr wrap="square" lIns="0" tIns="0" rIns="0" bIns="0" rtlCol="0" anchor="ctr">
            <a:normAutofit lnSpcReduction="10000"/>
          </a:bodyPr>
          <a:lstStyle/>
          <a:p>
            <a:pPr marL="0" indent="0">
              <a:buNone/>
            </a:pPr>
            <a:r>
              <a:rPr lang="en-US" sz="1600" b="1" dirty="0">
                <a:solidFill>
                  <a:srgbClr val="2563EB"/>
                </a:solidFill>
              </a:rPr>
              <a:t>0.0505</a:t>
            </a:r>
            <a:endParaRPr lang="en-US" sz="1600" dirty="0"/>
          </a:p>
        </p:txBody>
      </p:sp>
      <p:sp>
        <p:nvSpPr>
          <p:cNvPr id="10" name="Text 6"/>
          <p:cNvSpPr/>
          <p:nvPr/>
        </p:nvSpPr>
        <p:spPr>
          <a:xfrm>
            <a:off x="969264" y="5486400"/>
            <a:ext cx="1719072" cy="164592"/>
          </a:xfrm>
          <a:prstGeom prst="rect">
            <a:avLst/>
          </a:prstGeom>
          <a:noFill/>
          <a:ln/>
        </p:spPr>
        <p:txBody>
          <a:bodyPr wrap="square" lIns="0" tIns="0" rIns="0" bIns="0" rtlCol="0" anchor="ctr">
            <a:normAutofit/>
          </a:bodyPr>
          <a:lstStyle/>
          <a:p>
            <a:pPr marL="0" indent="0">
              <a:buNone/>
            </a:pPr>
            <a:r>
              <a:rPr lang="en-US" sz="830" b="1" dirty="0">
                <a:solidFill>
                  <a:srgbClr val="1F2937"/>
                </a:solidFill>
              </a:rPr>
              <a:t>RMSE</a:t>
            </a:r>
            <a:endParaRPr lang="en-US" sz="830" dirty="0"/>
          </a:p>
        </p:txBody>
      </p:sp>
      <p:sp>
        <p:nvSpPr>
          <p:cNvPr id="11" name="Text 7"/>
          <p:cNvSpPr/>
          <p:nvPr/>
        </p:nvSpPr>
        <p:spPr>
          <a:xfrm>
            <a:off x="969264" y="5715000"/>
            <a:ext cx="1719072" cy="164592"/>
          </a:xfrm>
          <a:prstGeom prst="rect">
            <a:avLst/>
          </a:prstGeom>
          <a:noFill/>
          <a:ln/>
        </p:spPr>
        <p:txBody>
          <a:bodyPr wrap="square" lIns="0" tIns="0" rIns="0" bIns="0" rtlCol="0" anchor="ctr">
            <a:normAutofit/>
          </a:bodyPr>
          <a:lstStyle/>
          <a:p>
            <a:pPr marL="0" indent="0">
              <a:buNone/>
            </a:pPr>
            <a:r>
              <a:rPr lang="en-US" sz="730" dirty="0">
                <a:solidFill>
                  <a:srgbClr val="667085"/>
                </a:solidFill>
              </a:rPr>
              <a:t>large errors penalized</a:t>
            </a:r>
            <a:endParaRPr lang="en-US" sz="730" dirty="0"/>
          </a:p>
        </p:txBody>
      </p:sp>
      <p:sp>
        <p:nvSpPr>
          <p:cNvPr id="12" name="Shape 8"/>
          <p:cNvSpPr/>
          <p:nvPr/>
        </p:nvSpPr>
        <p:spPr>
          <a:xfrm>
            <a:off x="3063240" y="5074920"/>
            <a:ext cx="2011680" cy="896112"/>
          </a:xfrm>
          <a:prstGeom prst="roundRect">
            <a:avLst>
              <a:gd name="adj" fmla="val 4082"/>
            </a:avLst>
          </a:prstGeom>
          <a:solidFill>
            <a:srgbClr val="EFF6FF"/>
          </a:solidFill>
          <a:ln w="10160">
            <a:solidFill>
              <a:srgbClr val="D0D5DD"/>
            </a:solidFill>
            <a:prstDash val="solid"/>
          </a:ln>
        </p:spPr>
      </p:sp>
      <p:sp>
        <p:nvSpPr>
          <p:cNvPr id="13" name="Text 9"/>
          <p:cNvSpPr/>
          <p:nvPr/>
        </p:nvSpPr>
        <p:spPr>
          <a:xfrm>
            <a:off x="3209544" y="5193792"/>
            <a:ext cx="1719072" cy="228600"/>
          </a:xfrm>
          <a:prstGeom prst="rect">
            <a:avLst/>
          </a:prstGeom>
          <a:noFill/>
          <a:ln/>
        </p:spPr>
        <p:txBody>
          <a:bodyPr wrap="square" lIns="0" tIns="0" rIns="0" bIns="0" rtlCol="0" anchor="ctr">
            <a:normAutofit lnSpcReduction="10000"/>
          </a:bodyPr>
          <a:lstStyle/>
          <a:p>
            <a:pPr marL="0" indent="0">
              <a:buNone/>
            </a:pPr>
            <a:r>
              <a:rPr lang="en-US" sz="1600" b="1" dirty="0">
                <a:solidFill>
                  <a:srgbClr val="2563EB"/>
                </a:solidFill>
              </a:rPr>
              <a:t>0.0299</a:t>
            </a:r>
            <a:endParaRPr lang="en-US" sz="1600" dirty="0"/>
          </a:p>
        </p:txBody>
      </p:sp>
      <p:sp>
        <p:nvSpPr>
          <p:cNvPr id="14" name="Text 10"/>
          <p:cNvSpPr/>
          <p:nvPr/>
        </p:nvSpPr>
        <p:spPr>
          <a:xfrm>
            <a:off x="3209544" y="5486400"/>
            <a:ext cx="1719072" cy="164592"/>
          </a:xfrm>
          <a:prstGeom prst="rect">
            <a:avLst/>
          </a:prstGeom>
          <a:noFill/>
          <a:ln/>
        </p:spPr>
        <p:txBody>
          <a:bodyPr wrap="square" lIns="0" tIns="0" rIns="0" bIns="0" rtlCol="0" anchor="ctr">
            <a:normAutofit/>
          </a:bodyPr>
          <a:lstStyle/>
          <a:p>
            <a:pPr marL="0" indent="0">
              <a:buNone/>
            </a:pPr>
            <a:r>
              <a:rPr lang="en-US" sz="830" b="1" dirty="0">
                <a:solidFill>
                  <a:srgbClr val="1F2937"/>
                </a:solidFill>
              </a:rPr>
              <a:t>MAE</a:t>
            </a:r>
            <a:endParaRPr lang="en-US" sz="830" dirty="0"/>
          </a:p>
        </p:txBody>
      </p:sp>
      <p:sp>
        <p:nvSpPr>
          <p:cNvPr id="15" name="Text 11"/>
          <p:cNvSpPr/>
          <p:nvPr/>
        </p:nvSpPr>
        <p:spPr>
          <a:xfrm>
            <a:off x="3209544" y="5715000"/>
            <a:ext cx="1719072" cy="164592"/>
          </a:xfrm>
          <a:prstGeom prst="rect">
            <a:avLst/>
          </a:prstGeom>
          <a:noFill/>
          <a:ln/>
        </p:spPr>
        <p:txBody>
          <a:bodyPr wrap="square" lIns="0" tIns="0" rIns="0" bIns="0" rtlCol="0" anchor="ctr">
            <a:normAutofit/>
          </a:bodyPr>
          <a:lstStyle/>
          <a:p>
            <a:pPr marL="0" indent="0">
              <a:buNone/>
            </a:pPr>
            <a:r>
              <a:rPr lang="en-US" sz="730" dirty="0">
                <a:solidFill>
                  <a:srgbClr val="667085"/>
                </a:solidFill>
              </a:rPr>
              <a:t>average absolute error</a:t>
            </a:r>
            <a:endParaRPr lang="en-US" sz="730" dirty="0"/>
          </a:p>
        </p:txBody>
      </p:sp>
      <p:sp>
        <p:nvSpPr>
          <p:cNvPr id="16" name="Shape 12"/>
          <p:cNvSpPr/>
          <p:nvPr/>
        </p:nvSpPr>
        <p:spPr>
          <a:xfrm>
            <a:off x="5303520" y="5074920"/>
            <a:ext cx="2011680" cy="896112"/>
          </a:xfrm>
          <a:prstGeom prst="roundRect">
            <a:avLst>
              <a:gd name="adj" fmla="val 4082"/>
            </a:avLst>
          </a:prstGeom>
          <a:solidFill>
            <a:srgbClr val="ECFDF3"/>
          </a:solidFill>
          <a:ln w="10160">
            <a:solidFill>
              <a:srgbClr val="D0D5DD"/>
            </a:solidFill>
            <a:prstDash val="solid"/>
          </a:ln>
        </p:spPr>
      </p:sp>
      <p:sp>
        <p:nvSpPr>
          <p:cNvPr id="17" name="Text 13"/>
          <p:cNvSpPr/>
          <p:nvPr/>
        </p:nvSpPr>
        <p:spPr>
          <a:xfrm>
            <a:off x="5449824" y="5193792"/>
            <a:ext cx="1719072" cy="228600"/>
          </a:xfrm>
          <a:prstGeom prst="rect">
            <a:avLst/>
          </a:prstGeom>
          <a:noFill/>
          <a:ln/>
        </p:spPr>
        <p:txBody>
          <a:bodyPr wrap="square" lIns="0" tIns="0" rIns="0" bIns="0" rtlCol="0" anchor="ctr">
            <a:normAutofit lnSpcReduction="10000"/>
          </a:bodyPr>
          <a:lstStyle/>
          <a:p>
            <a:pPr marL="0" indent="0">
              <a:buNone/>
            </a:pPr>
            <a:r>
              <a:rPr lang="en-US" sz="1600" b="1" dirty="0">
                <a:solidFill>
                  <a:srgbClr val="16803C"/>
                </a:solidFill>
              </a:rPr>
              <a:t>0.9183</a:t>
            </a:r>
            <a:endParaRPr lang="en-US" sz="1600" dirty="0"/>
          </a:p>
        </p:txBody>
      </p:sp>
      <p:sp>
        <p:nvSpPr>
          <p:cNvPr id="18" name="Text 14"/>
          <p:cNvSpPr/>
          <p:nvPr/>
        </p:nvSpPr>
        <p:spPr>
          <a:xfrm>
            <a:off x="5449824" y="5486400"/>
            <a:ext cx="1719072" cy="164592"/>
          </a:xfrm>
          <a:prstGeom prst="rect">
            <a:avLst/>
          </a:prstGeom>
          <a:noFill/>
          <a:ln/>
        </p:spPr>
        <p:txBody>
          <a:bodyPr wrap="square" lIns="0" tIns="0" rIns="0" bIns="0" rtlCol="0" anchor="ctr">
            <a:normAutofit/>
          </a:bodyPr>
          <a:lstStyle/>
          <a:p>
            <a:pPr marL="0" indent="0">
              <a:buNone/>
            </a:pPr>
            <a:r>
              <a:rPr lang="en-US" sz="830" b="1" dirty="0">
                <a:solidFill>
                  <a:srgbClr val="1F2937"/>
                </a:solidFill>
              </a:rPr>
              <a:t>R2 score</a:t>
            </a:r>
            <a:endParaRPr lang="en-US" sz="830" dirty="0"/>
          </a:p>
        </p:txBody>
      </p:sp>
      <p:sp>
        <p:nvSpPr>
          <p:cNvPr id="19" name="Text 15"/>
          <p:cNvSpPr/>
          <p:nvPr/>
        </p:nvSpPr>
        <p:spPr>
          <a:xfrm>
            <a:off x="5449824" y="5715000"/>
            <a:ext cx="1719072" cy="164592"/>
          </a:xfrm>
          <a:prstGeom prst="rect">
            <a:avLst/>
          </a:prstGeom>
          <a:noFill/>
          <a:ln/>
        </p:spPr>
        <p:txBody>
          <a:bodyPr wrap="square" lIns="0" tIns="0" rIns="0" bIns="0" rtlCol="0" anchor="ctr">
            <a:normAutofit/>
          </a:bodyPr>
          <a:lstStyle/>
          <a:p>
            <a:pPr marL="0" indent="0">
              <a:buNone/>
            </a:pPr>
            <a:r>
              <a:rPr lang="en-US" sz="730" dirty="0">
                <a:solidFill>
                  <a:srgbClr val="667085"/>
                </a:solidFill>
              </a:rPr>
              <a:t>variance explained</a:t>
            </a:r>
            <a:endParaRPr lang="en-US" sz="730" dirty="0"/>
          </a:p>
        </p:txBody>
      </p:sp>
      <p:sp>
        <p:nvSpPr>
          <p:cNvPr id="20" name="Text 16"/>
          <p:cNvSpPr/>
          <p:nvPr/>
        </p:nvSpPr>
        <p:spPr>
          <a:xfrm>
            <a:off x="7726680" y="5074920"/>
            <a:ext cx="3383280" cy="731520"/>
          </a:xfrm>
          <a:prstGeom prst="rect">
            <a:avLst/>
          </a:prstGeom>
          <a:noFill/>
          <a:ln/>
        </p:spPr>
        <p:txBody>
          <a:bodyPr wrap="square" lIns="0" tIns="0" rIns="0" bIns="0" rtlCol="0" anchor="t">
            <a:normAutofit/>
          </a:bodyPr>
          <a:lstStyle/>
          <a:p>
            <a:pPr marL="0" indent="0">
              <a:buNone/>
            </a:pPr>
            <a:r>
              <a:rPr lang="en-US" sz="930" dirty="0">
                <a:solidFill>
                  <a:srgbClr val="344054"/>
                </a:solidFill>
              </a:rPr>
              <a:t>The best model is Random Forest. The R2 score above 0.91 indicates that the demand signal is strong enough to support rule-based tariff decisions, while still requiring monitoring because forecasting error remains.</a:t>
            </a:r>
            <a:endParaRPr lang="en-US" sz="930" dirty="0"/>
          </a:p>
        </p:txBody>
      </p:sp>
      <p:sp>
        <p:nvSpPr>
          <p:cNvPr id="21" name="Text 17"/>
          <p:cNvSpPr/>
          <p:nvPr/>
        </p:nvSpPr>
        <p:spPr>
          <a:xfrm>
            <a:off x="502920" y="6492240"/>
            <a:ext cx="11155680" cy="182880"/>
          </a:xfrm>
          <a:prstGeom prst="rect">
            <a:avLst/>
          </a:prstGeom>
          <a:noFill/>
          <a:ln/>
        </p:spPr>
        <p:txBody>
          <a:bodyPr wrap="square" lIns="0" tIns="0" rIns="0" bIns="0" rtlCol="0" anchor="ctr"/>
          <a:lstStyle/>
          <a:p>
            <a:pPr marL="0" indent="0">
              <a:buNone/>
            </a:pPr>
            <a:r>
              <a:rPr lang="en-US" sz="750" dirty="0">
                <a:solidFill>
                  <a:srgbClr val="98A2B3"/>
                </a:solidFill>
              </a:rPr>
              <a:t>EV Dynamic Tariff Optimization | 5</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274320"/>
            <a:ext cx="11155680" cy="201168"/>
          </a:xfrm>
          <a:prstGeom prst="rect">
            <a:avLst/>
          </a:prstGeom>
          <a:noFill/>
          <a:ln/>
        </p:spPr>
        <p:txBody>
          <a:bodyPr wrap="square" lIns="0" tIns="0" rIns="0" bIns="0" rtlCol="0" anchor="ctr"/>
          <a:lstStyle/>
          <a:p>
            <a:pPr marL="0" indent="0">
              <a:buNone/>
            </a:pPr>
            <a:r>
              <a:rPr lang="en-US" sz="850" b="1" dirty="0">
                <a:solidFill>
                  <a:srgbClr val="667085"/>
                </a:solidFill>
              </a:rPr>
              <a:t>05 | Tariff pricing agent</a:t>
            </a:r>
            <a:endParaRPr lang="en-US" sz="850" dirty="0"/>
          </a:p>
        </p:txBody>
      </p:sp>
      <p:sp>
        <p:nvSpPr>
          <p:cNvPr id="3" name="Text 1"/>
          <p:cNvSpPr/>
          <p:nvPr/>
        </p:nvSpPr>
        <p:spPr>
          <a:xfrm>
            <a:off x="502920" y="566928"/>
            <a:ext cx="11064240" cy="457200"/>
          </a:xfrm>
          <a:prstGeom prst="rect">
            <a:avLst/>
          </a:prstGeom>
          <a:noFill/>
          <a:ln/>
        </p:spPr>
        <p:txBody>
          <a:bodyPr wrap="square" lIns="0" tIns="0" rIns="0" bIns="0" rtlCol="0" anchor="ctr">
            <a:normAutofit/>
          </a:bodyPr>
          <a:lstStyle/>
          <a:p>
            <a:pPr marL="0" indent="0">
              <a:buNone/>
            </a:pPr>
            <a:r>
              <a:rPr lang="en-US" sz="2200" b="1" dirty="0">
                <a:solidFill>
                  <a:srgbClr val="1F2937"/>
                </a:solidFill>
              </a:rPr>
              <a:t>The pricing logic is intentionally bounded and transparent</a:t>
            </a:r>
            <a:endParaRPr lang="en-US" sz="2200" dirty="0"/>
          </a:p>
        </p:txBody>
      </p:sp>
      <p:sp>
        <p:nvSpPr>
          <p:cNvPr id="4" name="Shape 2"/>
          <p:cNvSpPr/>
          <p:nvPr/>
        </p:nvSpPr>
        <p:spPr>
          <a:xfrm>
            <a:off x="502920" y="1115568"/>
            <a:ext cx="11155680" cy="0"/>
          </a:xfrm>
          <a:prstGeom prst="line">
            <a:avLst/>
          </a:prstGeom>
          <a:noFill/>
          <a:ln w="12700">
            <a:solidFill>
              <a:srgbClr val="D0D5DD"/>
            </a:solidFill>
            <a:prstDash val="solid"/>
          </a:ln>
        </p:spPr>
      </p:sp>
      <p:sp>
        <p:nvSpPr>
          <p:cNvPr id="5" name="Text 3"/>
          <p:cNvSpPr/>
          <p:nvPr/>
        </p:nvSpPr>
        <p:spPr>
          <a:xfrm>
            <a:off x="658368" y="1325880"/>
            <a:ext cx="10515600" cy="731520"/>
          </a:xfrm>
          <a:prstGeom prst="rect">
            <a:avLst/>
          </a:prstGeom>
          <a:noFill/>
          <a:ln/>
        </p:spPr>
        <p:txBody>
          <a:bodyPr wrap="square" lIns="0" tIns="0" rIns="0" bIns="0" rtlCol="0" anchor="t">
            <a:normAutofit/>
          </a:bodyPr>
          <a:lstStyle/>
          <a:p>
            <a:pPr marL="0" indent="0">
              <a:buNone/>
            </a:pPr>
            <a:r>
              <a:rPr lang="en-US" sz="1080" dirty="0">
                <a:solidFill>
                  <a:srgbClr val="344054"/>
                </a:solidFill>
              </a:rPr>
              <a:t>The tariff agent translates predicted utilization into three actions: surge, normal, or discount. The key idea is not simply to maximize revenue; it is to shift demand away from pressure periods and use spare capacity in low-utilization periods.</a:t>
            </a:r>
            <a:endParaRPr lang="en-US" sz="1080" dirty="0"/>
          </a:p>
        </p:txBody>
      </p:sp>
      <p:sp>
        <p:nvSpPr>
          <p:cNvPr id="6" name="Shape 4"/>
          <p:cNvSpPr/>
          <p:nvPr/>
        </p:nvSpPr>
        <p:spPr>
          <a:xfrm>
            <a:off x="685800" y="2423160"/>
            <a:ext cx="3246120" cy="1417320"/>
          </a:xfrm>
          <a:prstGeom prst="roundRect">
            <a:avLst>
              <a:gd name="adj" fmla="val 2581"/>
            </a:avLst>
          </a:prstGeom>
          <a:solidFill>
            <a:srgbClr val="FFFFFF"/>
          </a:solidFill>
          <a:ln w="10160">
            <a:solidFill>
              <a:srgbClr val="D0D5DD"/>
            </a:solidFill>
            <a:prstDash val="solid"/>
          </a:ln>
        </p:spPr>
      </p:sp>
      <p:sp>
        <p:nvSpPr>
          <p:cNvPr id="7" name="Text 5"/>
          <p:cNvSpPr/>
          <p:nvPr/>
        </p:nvSpPr>
        <p:spPr>
          <a:xfrm>
            <a:off x="850392" y="2633472"/>
            <a:ext cx="1280160" cy="201168"/>
          </a:xfrm>
          <a:prstGeom prst="rect">
            <a:avLst/>
          </a:prstGeom>
          <a:noFill/>
          <a:ln/>
        </p:spPr>
        <p:txBody>
          <a:bodyPr wrap="square" lIns="0" tIns="0" rIns="0" bIns="0" rtlCol="0" anchor="ctr"/>
          <a:lstStyle/>
          <a:p>
            <a:pPr marL="0" indent="0">
              <a:buNone/>
            </a:pPr>
            <a:r>
              <a:rPr lang="en-US" sz="1100" b="1" dirty="0">
                <a:solidFill>
                  <a:srgbClr val="B42318"/>
                </a:solidFill>
              </a:rPr>
              <a:t>Surge</a:t>
            </a:r>
            <a:endParaRPr lang="en-US" sz="1100" dirty="0"/>
          </a:p>
        </p:txBody>
      </p:sp>
      <p:sp>
        <p:nvSpPr>
          <p:cNvPr id="8" name="Text 6"/>
          <p:cNvSpPr/>
          <p:nvPr/>
        </p:nvSpPr>
        <p:spPr>
          <a:xfrm>
            <a:off x="850392" y="2944368"/>
            <a:ext cx="2834640" cy="164592"/>
          </a:xfrm>
          <a:prstGeom prst="rect">
            <a:avLst/>
          </a:prstGeom>
          <a:noFill/>
          <a:ln/>
        </p:spPr>
        <p:txBody>
          <a:bodyPr wrap="square" lIns="0" tIns="0" rIns="0" bIns="0" rtlCol="0" anchor="ctr">
            <a:normAutofit/>
          </a:bodyPr>
          <a:lstStyle/>
          <a:p>
            <a:pPr marL="0" indent="0">
              <a:buNone/>
            </a:pPr>
            <a:r>
              <a:rPr lang="en-US" sz="880" b="1" dirty="0">
                <a:solidFill>
                  <a:srgbClr val="1F2937"/>
                </a:solidFill>
              </a:rPr>
              <a:t>Predicted utilization &gt; 80%</a:t>
            </a:r>
            <a:endParaRPr lang="en-US" sz="880" dirty="0"/>
          </a:p>
        </p:txBody>
      </p:sp>
      <p:sp>
        <p:nvSpPr>
          <p:cNvPr id="9" name="Text 7"/>
          <p:cNvSpPr/>
          <p:nvPr/>
        </p:nvSpPr>
        <p:spPr>
          <a:xfrm>
            <a:off x="850392" y="3218688"/>
            <a:ext cx="2816352" cy="347472"/>
          </a:xfrm>
          <a:prstGeom prst="rect">
            <a:avLst/>
          </a:prstGeom>
          <a:noFill/>
          <a:ln/>
        </p:spPr>
        <p:txBody>
          <a:bodyPr wrap="square" lIns="0" tIns="0" rIns="0" bIns="0" rtlCol="0" anchor="ctr">
            <a:normAutofit/>
          </a:bodyPr>
          <a:lstStyle/>
          <a:p>
            <a:pPr marL="0" indent="0">
              <a:buNone/>
            </a:pPr>
            <a:r>
              <a:rPr lang="en-US" sz="800" dirty="0">
                <a:solidFill>
                  <a:srgbClr val="344054"/>
                </a:solidFill>
              </a:rPr>
              <a:t>Signals congestion risk and raises price moderately to discourage some peak demand.</a:t>
            </a:r>
            <a:endParaRPr lang="en-US" sz="800" dirty="0"/>
          </a:p>
        </p:txBody>
      </p:sp>
      <p:sp>
        <p:nvSpPr>
          <p:cNvPr id="10" name="Shape 8"/>
          <p:cNvSpPr/>
          <p:nvPr/>
        </p:nvSpPr>
        <p:spPr>
          <a:xfrm>
            <a:off x="4416552" y="2423160"/>
            <a:ext cx="3246120" cy="1417320"/>
          </a:xfrm>
          <a:prstGeom prst="roundRect">
            <a:avLst>
              <a:gd name="adj" fmla="val 2581"/>
            </a:avLst>
          </a:prstGeom>
          <a:solidFill>
            <a:srgbClr val="FFFFFF"/>
          </a:solidFill>
          <a:ln w="10160">
            <a:solidFill>
              <a:srgbClr val="D0D5DD"/>
            </a:solidFill>
            <a:prstDash val="solid"/>
          </a:ln>
        </p:spPr>
      </p:sp>
      <p:sp>
        <p:nvSpPr>
          <p:cNvPr id="11" name="Text 9"/>
          <p:cNvSpPr/>
          <p:nvPr/>
        </p:nvSpPr>
        <p:spPr>
          <a:xfrm>
            <a:off x="4581144" y="2633472"/>
            <a:ext cx="1280160" cy="201168"/>
          </a:xfrm>
          <a:prstGeom prst="rect">
            <a:avLst/>
          </a:prstGeom>
          <a:noFill/>
          <a:ln/>
        </p:spPr>
        <p:txBody>
          <a:bodyPr wrap="square" lIns="0" tIns="0" rIns="0" bIns="0" rtlCol="0" anchor="ctr"/>
          <a:lstStyle/>
          <a:p>
            <a:pPr marL="0" indent="0">
              <a:buNone/>
            </a:pPr>
            <a:r>
              <a:rPr lang="en-US" sz="1100" b="1" dirty="0">
                <a:solidFill>
                  <a:srgbClr val="2563EB"/>
                </a:solidFill>
              </a:rPr>
              <a:t>Normal</a:t>
            </a:r>
            <a:endParaRPr lang="en-US" sz="1100" dirty="0"/>
          </a:p>
        </p:txBody>
      </p:sp>
      <p:sp>
        <p:nvSpPr>
          <p:cNvPr id="12" name="Text 10"/>
          <p:cNvSpPr/>
          <p:nvPr/>
        </p:nvSpPr>
        <p:spPr>
          <a:xfrm>
            <a:off x="4581144" y="2944368"/>
            <a:ext cx="2834640" cy="164592"/>
          </a:xfrm>
          <a:prstGeom prst="rect">
            <a:avLst/>
          </a:prstGeom>
          <a:noFill/>
          <a:ln/>
        </p:spPr>
        <p:txBody>
          <a:bodyPr wrap="square" lIns="0" tIns="0" rIns="0" bIns="0" rtlCol="0" anchor="ctr">
            <a:normAutofit/>
          </a:bodyPr>
          <a:lstStyle/>
          <a:p>
            <a:pPr marL="0" indent="0">
              <a:buNone/>
            </a:pPr>
            <a:r>
              <a:rPr lang="en-US" sz="880" b="1" dirty="0">
                <a:solidFill>
                  <a:srgbClr val="1F2937"/>
                </a:solidFill>
              </a:rPr>
              <a:t>Predicted utilization between 30% and 80%</a:t>
            </a:r>
            <a:endParaRPr lang="en-US" sz="880" dirty="0"/>
          </a:p>
        </p:txBody>
      </p:sp>
      <p:sp>
        <p:nvSpPr>
          <p:cNvPr id="13" name="Text 11"/>
          <p:cNvSpPr/>
          <p:nvPr/>
        </p:nvSpPr>
        <p:spPr>
          <a:xfrm>
            <a:off x="4581144" y="3218688"/>
            <a:ext cx="2816352" cy="347472"/>
          </a:xfrm>
          <a:prstGeom prst="rect">
            <a:avLst/>
          </a:prstGeom>
          <a:noFill/>
          <a:ln/>
        </p:spPr>
        <p:txBody>
          <a:bodyPr wrap="square" lIns="0" tIns="0" rIns="0" bIns="0" rtlCol="0" anchor="ctr">
            <a:normAutofit/>
          </a:bodyPr>
          <a:lstStyle/>
          <a:p>
            <a:pPr marL="0" indent="0">
              <a:buNone/>
            </a:pPr>
            <a:r>
              <a:rPr lang="en-US" sz="800" dirty="0">
                <a:solidFill>
                  <a:srgbClr val="344054"/>
                </a:solidFill>
              </a:rPr>
              <a:t>Keeps price stable when the network is not clearly overloaded or underused.</a:t>
            </a:r>
            <a:endParaRPr lang="en-US" sz="800" dirty="0"/>
          </a:p>
        </p:txBody>
      </p:sp>
      <p:sp>
        <p:nvSpPr>
          <p:cNvPr id="14" name="Shape 12"/>
          <p:cNvSpPr/>
          <p:nvPr/>
        </p:nvSpPr>
        <p:spPr>
          <a:xfrm>
            <a:off x="8147304" y="2423160"/>
            <a:ext cx="3246120" cy="1417320"/>
          </a:xfrm>
          <a:prstGeom prst="roundRect">
            <a:avLst>
              <a:gd name="adj" fmla="val 2581"/>
            </a:avLst>
          </a:prstGeom>
          <a:solidFill>
            <a:srgbClr val="FFFFFF"/>
          </a:solidFill>
          <a:ln w="10160">
            <a:solidFill>
              <a:srgbClr val="D0D5DD"/>
            </a:solidFill>
            <a:prstDash val="solid"/>
          </a:ln>
        </p:spPr>
      </p:sp>
      <p:sp>
        <p:nvSpPr>
          <p:cNvPr id="15" name="Text 13"/>
          <p:cNvSpPr/>
          <p:nvPr/>
        </p:nvSpPr>
        <p:spPr>
          <a:xfrm>
            <a:off x="8311896" y="2633472"/>
            <a:ext cx="1280160" cy="201168"/>
          </a:xfrm>
          <a:prstGeom prst="rect">
            <a:avLst/>
          </a:prstGeom>
          <a:noFill/>
          <a:ln/>
        </p:spPr>
        <p:txBody>
          <a:bodyPr wrap="square" lIns="0" tIns="0" rIns="0" bIns="0" rtlCol="0" anchor="ctr"/>
          <a:lstStyle/>
          <a:p>
            <a:pPr marL="0" indent="0">
              <a:buNone/>
            </a:pPr>
            <a:r>
              <a:rPr lang="en-US" sz="1100" b="1" dirty="0">
                <a:solidFill>
                  <a:srgbClr val="16803C"/>
                </a:solidFill>
              </a:rPr>
              <a:t>Discount</a:t>
            </a:r>
            <a:endParaRPr lang="en-US" sz="1100" dirty="0"/>
          </a:p>
        </p:txBody>
      </p:sp>
      <p:sp>
        <p:nvSpPr>
          <p:cNvPr id="16" name="Text 14"/>
          <p:cNvSpPr/>
          <p:nvPr/>
        </p:nvSpPr>
        <p:spPr>
          <a:xfrm>
            <a:off x="8311896" y="2944368"/>
            <a:ext cx="2834640" cy="164592"/>
          </a:xfrm>
          <a:prstGeom prst="rect">
            <a:avLst/>
          </a:prstGeom>
          <a:noFill/>
          <a:ln/>
        </p:spPr>
        <p:txBody>
          <a:bodyPr wrap="square" lIns="0" tIns="0" rIns="0" bIns="0" rtlCol="0" anchor="ctr">
            <a:normAutofit/>
          </a:bodyPr>
          <a:lstStyle/>
          <a:p>
            <a:pPr marL="0" indent="0">
              <a:buNone/>
            </a:pPr>
            <a:r>
              <a:rPr lang="en-US" sz="880" b="1" dirty="0">
                <a:solidFill>
                  <a:srgbClr val="1F2937"/>
                </a:solidFill>
              </a:rPr>
              <a:t>Predicted utilization &lt; 30%</a:t>
            </a:r>
            <a:endParaRPr lang="en-US" sz="880" dirty="0"/>
          </a:p>
        </p:txBody>
      </p:sp>
      <p:sp>
        <p:nvSpPr>
          <p:cNvPr id="17" name="Text 15"/>
          <p:cNvSpPr/>
          <p:nvPr/>
        </p:nvSpPr>
        <p:spPr>
          <a:xfrm>
            <a:off x="8311896" y="3218688"/>
            <a:ext cx="2816352" cy="347472"/>
          </a:xfrm>
          <a:prstGeom prst="rect">
            <a:avLst/>
          </a:prstGeom>
          <a:noFill/>
          <a:ln/>
        </p:spPr>
        <p:txBody>
          <a:bodyPr wrap="square" lIns="0" tIns="0" rIns="0" bIns="0" rtlCol="0" anchor="ctr">
            <a:normAutofit/>
          </a:bodyPr>
          <a:lstStyle/>
          <a:p>
            <a:pPr marL="0" indent="0">
              <a:buNone/>
            </a:pPr>
            <a:r>
              <a:rPr lang="en-US" sz="800" dirty="0">
                <a:solidFill>
                  <a:srgbClr val="344054"/>
                </a:solidFill>
              </a:rPr>
              <a:t>Encourages charging during low-demand windows, but a congestion guard blocks discounts in pressured periods.</a:t>
            </a:r>
            <a:endParaRPr lang="en-US" sz="800" dirty="0"/>
          </a:p>
        </p:txBody>
      </p:sp>
      <p:sp>
        <p:nvSpPr>
          <p:cNvPr id="18" name="Shape 16"/>
          <p:cNvSpPr/>
          <p:nvPr/>
        </p:nvSpPr>
        <p:spPr>
          <a:xfrm>
            <a:off x="868680" y="4434840"/>
            <a:ext cx="2240280" cy="896112"/>
          </a:xfrm>
          <a:prstGeom prst="roundRect">
            <a:avLst>
              <a:gd name="adj" fmla="val 4082"/>
            </a:avLst>
          </a:prstGeom>
          <a:solidFill>
            <a:srgbClr val="ECFDF3"/>
          </a:solidFill>
          <a:ln w="10160">
            <a:solidFill>
              <a:srgbClr val="D0D5DD"/>
            </a:solidFill>
            <a:prstDash val="solid"/>
          </a:ln>
        </p:spPr>
      </p:sp>
      <p:sp>
        <p:nvSpPr>
          <p:cNvPr id="19" name="Text 17"/>
          <p:cNvSpPr/>
          <p:nvPr/>
        </p:nvSpPr>
        <p:spPr>
          <a:xfrm>
            <a:off x="1014984" y="4553712"/>
            <a:ext cx="1947672" cy="228600"/>
          </a:xfrm>
          <a:prstGeom prst="rect">
            <a:avLst/>
          </a:prstGeom>
          <a:noFill/>
          <a:ln/>
        </p:spPr>
        <p:txBody>
          <a:bodyPr wrap="square" lIns="0" tIns="0" rIns="0" bIns="0" rtlCol="0" anchor="ctr">
            <a:normAutofit lnSpcReduction="10000"/>
          </a:bodyPr>
          <a:lstStyle/>
          <a:p>
            <a:pPr marL="0" indent="0">
              <a:buNone/>
            </a:pPr>
            <a:r>
              <a:rPr lang="en-US" sz="1600" b="1" dirty="0">
                <a:solidFill>
                  <a:srgbClr val="16803C"/>
                </a:solidFill>
              </a:rPr>
              <a:t>+4.62%</a:t>
            </a:r>
            <a:endParaRPr lang="en-US" sz="1600" dirty="0"/>
          </a:p>
        </p:txBody>
      </p:sp>
      <p:sp>
        <p:nvSpPr>
          <p:cNvPr id="20" name="Text 18"/>
          <p:cNvSpPr/>
          <p:nvPr/>
        </p:nvSpPr>
        <p:spPr>
          <a:xfrm>
            <a:off x="1014984" y="4846320"/>
            <a:ext cx="1947672" cy="164592"/>
          </a:xfrm>
          <a:prstGeom prst="rect">
            <a:avLst/>
          </a:prstGeom>
          <a:noFill/>
          <a:ln/>
        </p:spPr>
        <p:txBody>
          <a:bodyPr wrap="square" lIns="0" tIns="0" rIns="0" bIns="0" rtlCol="0" anchor="ctr">
            <a:normAutofit/>
          </a:bodyPr>
          <a:lstStyle/>
          <a:p>
            <a:pPr marL="0" indent="0">
              <a:buNone/>
            </a:pPr>
            <a:r>
              <a:rPr lang="en-US" sz="830" b="1" dirty="0">
                <a:solidFill>
                  <a:srgbClr val="1F2937"/>
                </a:solidFill>
              </a:rPr>
              <a:t>ACN revenue gain</a:t>
            </a:r>
            <a:endParaRPr lang="en-US" sz="830" dirty="0"/>
          </a:p>
        </p:txBody>
      </p:sp>
      <p:sp>
        <p:nvSpPr>
          <p:cNvPr id="21" name="Text 19"/>
          <p:cNvSpPr/>
          <p:nvPr/>
        </p:nvSpPr>
        <p:spPr>
          <a:xfrm>
            <a:off x="1014984" y="5074920"/>
            <a:ext cx="1947672" cy="164592"/>
          </a:xfrm>
          <a:prstGeom prst="rect">
            <a:avLst/>
          </a:prstGeom>
          <a:noFill/>
          <a:ln/>
        </p:spPr>
        <p:txBody>
          <a:bodyPr wrap="square" lIns="0" tIns="0" rIns="0" bIns="0" rtlCol="0" anchor="ctr">
            <a:normAutofit/>
          </a:bodyPr>
          <a:lstStyle/>
          <a:p>
            <a:pPr marL="0" indent="0">
              <a:buNone/>
            </a:pPr>
            <a:r>
              <a:rPr lang="en-US" sz="730" dirty="0">
                <a:solidFill>
                  <a:srgbClr val="667085"/>
                </a:solidFill>
              </a:rPr>
              <a:t>vs flat baseline</a:t>
            </a:r>
            <a:endParaRPr lang="en-US" sz="730" dirty="0"/>
          </a:p>
        </p:txBody>
      </p:sp>
      <p:sp>
        <p:nvSpPr>
          <p:cNvPr id="22" name="Shape 20"/>
          <p:cNvSpPr/>
          <p:nvPr/>
        </p:nvSpPr>
        <p:spPr>
          <a:xfrm>
            <a:off x="3401568" y="4434840"/>
            <a:ext cx="2240280" cy="896112"/>
          </a:xfrm>
          <a:prstGeom prst="roundRect">
            <a:avLst>
              <a:gd name="adj" fmla="val 4082"/>
            </a:avLst>
          </a:prstGeom>
          <a:solidFill>
            <a:srgbClr val="FFFAEB"/>
          </a:solidFill>
          <a:ln w="10160">
            <a:solidFill>
              <a:srgbClr val="D0D5DD"/>
            </a:solidFill>
            <a:prstDash val="solid"/>
          </a:ln>
        </p:spPr>
      </p:sp>
      <p:sp>
        <p:nvSpPr>
          <p:cNvPr id="23" name="Text 21"/>
          <p:cNvSpPr/>
          <p:nvPr/>
        </p:nvSpPr>
        <p:spPr>
          <a:xfrm>
            <a:off x="3547872" y="4553712"/>
            <a:ext cx="1947672" cy="228600"/>
          </a:xfrm>
          <a:prstGeom prst="rect">
            <a:avLst/>
          </a:prstGeom>
          <a:noFill/>
          <a:ln/>
        </p:spPr>
        <p:txBody>
          <a:bodyPr wrap="square" lIns="0" tIns="0" rIns="0" bIns="0" rtlCol="0" anchor="ctr">
            <a:normAutofit lnSpcReduction="10000"/>
          </a:bodyPr>
          <a:lstStyle/>
          <a:p>
            <a:pPr marL="0" indent="0">
              <a:buNone/>
            </a:pPr>
            <a:r>
              <a:rPr lang="en-US" sz="1600" b="1" dirty="0">
                <a:solidFill>
                  <a:srgbClr val="B45309"/>
                </a:solidFill>
              </a:rPr>
              <a:t>+2.7%</a:t>
            </a:r>
            <a:endParaRPr lang="en-US" sz="1600" dirty="0"/>
          </a:p>
        </p:txBody>
      </p:sp>
      <p:sp>
        <p:nvSpPr>
          <p:cNvPr id="24" name="Text 22"/>
          <p:cNvSpPr/>
          <p:nvPr/>
        </p:nvSpPr>
        <p:spPr>
          <a:xfrm>
            <a:off x="3547872" y="4846320"/>
            <a:ext cx="1947672" cy="164592"/>
          </a:xfrm>
          <a:prstGeom prst="rect">
            <a:avLst/>
          </a:prstGeom>
          <a:noFill/>
          <a:ln/>
        </p:spPr>
        <p:txBody>
          <a:bodyPr wrap="square" lIns="0" tIns="0" rIns="0" bIns="0" rtlCol="0" anchor="ctr">
            <a:normAutofit/>
          </a:bodyPr>
          <a:lstStyle/>
          <a:p>
            <a:pPr marL="0" indent="0">
              <a:buNone/>
            </a:pPr>
            <a:r>
              <a:rPr lang="en-US" sz="830" b="1" dirty="0">
                <a:solidFill>
                  <a:srgbClr val="1F2937"/>
                </a:solidFill>
              </a:rPr>
              <a:t>UrbanEV off-peak uplift</a:t>
            </a:r>
            <a:endParaRPr lang="en-US" sz="830" dirty="0"/>
          </a:p>
        </p:txBody>
      </p:sp>
      <p:sp>
        <p:nvSpPr>
          <p:cNvPr id="25" name="Text 23"/>
          <p:cNvSpPr/>
          <p:nvPr/>
        </p:nvSpPr>
        <p:spPr>
          <a:xfrm>
            <a:off x="3547872" y="5074920"/>
            <a:ext cx="1947672" cy="164592"/>
          </a:xfrm>
          <a:prstGeom prst="rect">
            <a:avLst/>
          </a:prstGeom>
          <a:noFill/>
          <a:ln/>
        </p:spPr>
        <p:txBody>
          <a:bodyPr wrap="square" lIns="0" tIns="0" rIns="0" bIns="0" rtlCol="0" anchor="ctr">
            <a:normAutofit/>
          </a:bodyPr>
          <a:lstStyle/>
          <a:p>
            <a:pPr marL="0" indent="0">
              <a:buNone/>
            </a:pPr>
            <a:r>
              <a:rPr lang="en-US" sz="730" dirty="0">
                <a:solidFill>
                  <a:srgbClr val="667085"/>
                </a:solidFill>
              </a:rPr>
              <a:t>discount response proxy</a:t>
            </a:r>
            <a:endParaRPr lang="en-US" sz="730" dirty="0"/>
          </a:p>
        </p:txBody>
      </p:sp>
      <p:sp>
        <p:nvSpPr>
          <p:cNvPr id="26" name="Shape 24"/>
          <p:cNvSpPr/>
          <p:nvPr/>
        </p:nvSpPr>
        <p:spPr>
          <a:xfrm>
            <a:off x="5943600" y="4434840"/>
            <a:ext cx="2240280" cy="896112"/>
          </a:xfrm>
          <a:prstGeom prst="roundRect">
            <a:avLst>
              <a:gd name="adj" fmla="val 4082"/>
            </a:avLst>
          </a:prstGeom>
          <a:solidFill>
            <a:srgbClr val="EFF6FF"/>
          </a:solidFill>
          <a:ln w="10160">
            <a:solidFill>
              <a:srgbClr val="D0D5DD"/>
            </a:solidFill>
            <a:prstDash val="solid"/>
          </a:ln>
        </p:spPr>
      </p:sp>
      <p:sp>
        <p:nvSpPr>
          <p:cNvPr id="27" name="Text 25"/>
          <p:cNvSpPr/>
          <p:nvPr/>
        </p:nvSpPr>
        <p:spPr>
          <a:xfrm>
            <a:off x="6089904" y="4553712"/>
            <a:ext cx="1947672" cy="228600"/>
          </a:xfrm>
          <a:prstGeom prst="rect">
            <a:avLst/>
          </a:prstGeom>
          <a:noFill/>
          <a:ln/>
        </p:spPr>
        <p:txBody>
          <a:bodyPr wrap="square" lIns="0" tIns="0" rIns="0" bIns="0" rtlCol="0" anchor="ctr">
            <a:normAutofit lnSpcReduction="10000"/>
          </a:bodyPr>
          <a:lstStyle/>
          <a:p>
            <a:pPr marL="0" indent="0">
              <a:buNone/>
            </a:pPr>
            <a:r>
              <a:rPr lang="en-US" sz="1600" b="1" dirty="0">
                <a:solidFill>
                  <a:srgbClr val="2563EB"/>
                </a:solidFill>
              </a:rPr>
              <a:t>+0.05 pp</a:t>
            </a:r>
            <a:endParaRPr lang="en-US" sz="1600" dirty="0"/>
          </a:p>
        </p:txBody>
      </p:sp>
      <p:sp>
        <p:nvSpPr>
          <p:cNvPr id="28" name="Text 26"/>
          <p:cNvSpPr/>
          <p:nvPr/>
        </p:nvSpPr>
        <p:spPr>
          <a:xfrm>
            <a:off x="6089904" y="4846320"/>
            <a:ext cx="1947672" cy="164592"/>
          </a:xfrm>
          <a:prstGeom prst="rect">
            <a:avLst/>
          </a:prstGeom>
          <a:noFill/>
          <a:ln/>
        </p:spPr>
        <p:txBody>
          <a:bodyPr wrap="square" lIns="0" tIns="0" rIns="0" bIns="0" rtlCol="0" anchor="ctr">
            <a:normAutofit/>
          </a:bodyPr>
          <a:lstStyle/>
          <a:p>
            <a:pPr marL="0" indent="0">
              <a:buNone/>
            </a:pPr>
            <a:r>
              <a:rPr lang="en-US" sz="830" b="1" dirty="0">
                <a:solidFill>
                  <a:srgbClr val="1F2937"/>
                </a:solidFill>
              </a:rPr>
              <a:t>utilization change</a:t>
            </a:r>
            <a:endParaRPr lang="en-US" sz="830" dirty="0"/>
          </a:p>
        </p:txBody>
      </p:sp>
      <p:sp>
        <p:nvSpPr>
          <p:cNvPr id="29" name="Text 27"/>
          <p:cNvSpPr/>
          <p:nvPr/>
        </p:nvSpPr>
        <p:spPr>
          <a:xfrm>
            <a:off x="6089904" y="5074920"/>
            <a:ext cx="1947672" cy="164592"/>
          </a:xfrm>
          <a:prstGeom prst="rect">
            <a:avLst/>
          </a:prstGeom>
          <a:noFill/>
          <a:ln/>
        </p:spPr>
        <p:txBody>
          <a:bodyPr wrap="square" lIns="0" tIns="0" rIns="0" bIns="0" rtlCol="0" anchor="ctr">
            <a:normAutofit/>
          </a:bodyPr>
          <a:lstStyle/>
          <a:p>
            <a:pPr marL="0" indent="0">
              <a:buNone/>
            </a:pPr>
            <a:r>
              <a:rPr lang="en-US" sz="730" dirty="0">
                <a:solidFill>
                  <a:srgbClr val="667085"/>
                </a:solidFill>
              </a:rPr>
              <a:t>average UrbanEV change</a:t>
            </a:r>
            <a:endParaRPr lang="en-US" sz="730" dirty="0"/>
          </a:p>
        </p:txBody>
      </p:sp>
      <p:sp>
        <p:nvSpPr>
          <p:cNvPr id="30" name="Text 28"/>
          <p:cNvSpPr/>
          <p:nvPr/>
        </p:nvSpPr>
        <p:spPr>
          <a:xfrm>
            <a:off x="8549640" y="4443984"/>
            <a:ext cx="2788920" cy="731520"/>
          </a:xfrm>
          <a:prstGeom prst="rect">
            <a:avLst/>
          </a:prstGeom>
          <a:noFill/>
          <a:ln/>
        </p:spPr>
        <p:txBody>
          <a:bodyPr wrap="square" lIns="0" tIns="0" rIns="0" bIns="0" rtlCol="0" anchor="t">
            <a:normAutofit/>
          </a:bodyPr>
          <a:lstStyle/>
          <a:p>
            <a:pPr marL="0" indent="0">
              <a:buNone/>
            </a:pPr>
            <a:r>
              <a:rPr lang="en-US" sz="880" dirty="0">
                <a:solidFill>
                  <a:srgbClr val="344054"/>
                </a:solidFill>
              </a:rPr>
              <a:t>Interpretation: the gain is positive but not extreme, which is important because unrealistic price jumps would be unacceptable for users and difficult to justify operationally.</a:t>
            </a:r>
            <a:endParaRPr lang="en-US" sz="880" dirty="0"/>
          </a:p>
        </p:txBody>
      </p:sp>
      <p:sp>
        <p:nvSpPr>
          <p:cNvPr id="31" name="Text 29"/>
          <p:cNvSpPr/>
          <p:nvPr/>
        </p:nvSpPr>
        <p:spPr>
          <a:xfrm>
            <a:off x="502920" y="6492240"/>
            <a:ext cx="11155680" cy="182880"/>
          </a:xfrm>
          <a:prstGeom prst="rect">
            <a:avLst/>
          </a:prstGeom>
          <a:noFill/>
          <a:ln/>
        </p:spPr>
        <p:txBody>
          <a:bodyPr wrap="square" lIns="0" tIns="0" rIns="0" bIns="0" rtlCol="0" anchor="ctr"/>
          <a:lstStyle/>
          <a:p>
            <a:pPr marL="0" indent="0">
              <a:buNone/>
            </a:pPr>
            <a:r>
              <a:rPr lang="en-US" sz="750" dirty="0">
                <a:solidFill>
                  <a:srgbClr val="98A2B3"/>
                </a:solidFill>
              </a:rPr>
              <a:t>EV Dynamic Tariff Optimization | 6</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274320"/>
            <a:ext cx="11155680" cy="201168"/>
          </a:xfrm>
          <a:prstGeom prst="rect">
            <a:avLst/>
          </a:prstGeom>
          <a:noFill/>
          <a:ln/>
        </p:spPr>
        <p:txBody>
          <a:bodyPr wrap="square" lIns="0" tIns="0" rIns="0" bIns="0" rtlCol="0" anchor="ctr"/>
          <a:lstStyle/>
          <a:p>
            <a:pPr marL="0" indent="0">
              <a:buNone/>
            </a:pPr>
            <a:r>
              <a:rPr lang="en-US" sz="850" b="1" dirty="0">
                <a:solidFill>
                  <a:srgbClr val="667085"/>
                </a:solidFill>
              </a:rPr>
              <a:t>06 | Monitoring and learning agent</a:t>
            </a:r>
            <a:endParaRPr lang="en-US" sz="850" dirty="0"/>
          </a:p>
        </p:txBody>
      </p:sp>
      <p:sp>
        <p:nvSpPr>
          <p:cNvPr id="3" name="Text 1"/>
          <p:cNvSpPr/>
          <p:nvPr/>
        </p:nvSpPr>
        <p:spPr>
          <a:xfrm>
            <a:off x="502920" y="566928"/>
            <a:ext cx="11064240" cy="457200"/>
          </a:xfrm>
          <a:prstGeom prst="rect">
            <a:avLst/>
          </a:prstGeom>
          <a:noFill/>
          <a:ln/>
        </p:spPr>
        <p:txBody>
          <a:bodyPr wrap="square" lIns="0" tIns="0" rIns="0" bIns="0" rtlCol="0" anchor="ctr">
            <a:normAutofit/>
          </a:bodyPr>
          <a:lstStyle/>
          <a:p>
            <a:pPr marL="0" indent="0">
              <a:buNone/>
            </a:pPr>
            <a:r>
              <a:rPr lang="en-US" sz="2200" b="1" dirty="0">
                <a:solidFill>
                  <a:srgbClr val="1F2937"/>
                </a:solidFill>
              </a:rPr>
              <a:t>The feedback loop checks whether pricing remains balanced</a:t>
            </a:r>
            <a:endParaRPr lang="en-US" sz="2200" dirty="0"/>
          </a:p>
        </p:txBody>
      </p:sp>
      <p:sp>
        <p:nvSpPr>
          <p:cNvPr id="4" name="Shape 2"/>
          <p:cNvSpPr/>
          <p:nvPr/>
        </p:nvSpPr>
        <p:spPr>
          <a:xfrm>
            <a:off x="502920" y="1115568"/>
            <a:ext cx="11155680" cy="0"/>
          </a:xfrm>
          <a:prstGeom prst="line">
            <a:avLst/>
          </a:prstGeom>
          <a:noFill/>
          <a:ln w="12700">
            <a:solidFill>
              <a:srgbClr val="D0D5DD"/>
            </a:solidFill>
            <a:prstDash val="solid"/>
          </a:ln>
        </p:spPr>
      </p:sp>
      <p:sp>
        <p:nvSpPr>
          <p:cNvPr id="5" name="Text 3"/>
          <p:cNvSpPr/>
          <p:nvPr/>
        </p:nvSpPr>
        <p:spPr>
          <a:xfrm>
            <a:off x="658368" y="1325880"/>
            <a:ext cx="10515600" cy="731520"/>
          </a:xfrm>
          <a:prstGeom prst="rect">
            <a:avLst/>
          </a:prstGeom>
          <a:noFill/>
          <a:ln/>
        </p:spPr>
        <p:txBody>
          <a:bodyPr wrap="square" lIns="0" tIns="0" rIns="0" bIns="0" rtlCol="0" anchor="t">
            <a:normAutofit/>
          </a:bodyPr>
          <a:lstStyle/>
          <a:p>
            <a:pPr marL="0" indent="0">
              <a:buNone/>
            </a:pPr>
            <a:r>
              <a:rPr lang="en-US" sz="1060" dirty="0">
                <a:solidFill>
                  <a:srgbClr val="344054"/>
                </a:solidFill>
              </a:rPr>
              <a:t>The monitoring agent evaluates the policy across 10 simulated episodes. It tunes the ACN pricing thresholds using a balanced score that rewards net revenue and wait-time reduction, while penalizing excessive price exposure and protecting demand retained.</a:t>
            </a:r>
            <a:endParaRPr lang="en-US" sz="1060" dirty="0"/>
          </a:p>
        </p:txBody>
      </p:sp>
      <p:pic>
        <p:nvPicPr>
          <p:cNvPr id="6" name="Image 0" descr="C:\Users\navya\OneDrive\Desktop\Socbiz_project\outputs\monitoring_learning_curves.png"/>
          <p:cNvPicPr>
            <a:picLocks noChangeAspect="1"/>
          </p:cNvPicPr>
          <p:nvPr/>
        </p:nvPicPr>
        <p:blipFill>
          <a:blip r:embed="rId3"/>
          <a:stretch>
            <a:fillRect/>
          </a:stretch>
        </p:blipFill>
        <p:spPr>
          <a:xfrm>
            <a:off x="685800" y="2029968"/>
            <a:ext cx="5394960" cy="3246120"/>
          </a:xfrm>
          <a:prstGeom prst="rect">
            <a:avLst/>
          </a:prstGeom>
        </p:spPr>
      </p:pic>
      <p:sp>
        <p:nvSpPr>
          <p:cNvPr id="7" name="Text 4"/>
          <p:cNvSpPr/>
          <p:nvPr/>
        </p:nvSpPr>
        <p:spPr>
          <a:xfrm>
            <a:off x="6446520" y="2057400"/>
            <a:ext cx="3657600" cy="201168"/>
          </a:xfrm>
          <a:prstGeom prst="rect">
            <a:avLst/>
          </a:prstGeom>
          <a:noFill/>
          <a:ln/>
        </p:spPr>
        <p:txBody>
          <a:bodyPr wrap="square" lIns="0" tIns="0" rIns="0" bIns="0" rtlCol="0" anchor="ctr"/>
          <a:lstStyle/>
          <a:p>
            <a:pPr marL="0" indent="0">
              <a:buNone/>
            </a:pPr>
            <a:r>
              <a:rPr lang="en-US" sz="850" b="1" dirty="0">
                <a:solidFill>
                  <a:srgbClr val="2563EB"/>
                </a:solidFill>
              </a:rPr>
              <a:t>Final episode performance</a:t>
            </a:r>
            <a:endParaRPr lang="en-US" sz="850" dirty="0"/>
          </a:p>
        </p:txBody>
      </p:sp>
      <p:sp>
        <p:nvSpPr>
          <p:cNvPr id="8" name="Shape 5"/>
          <p:cNvSpPr/>
          <p:nvPr/>
        </p:nvSpPr>
        <p:spPr>
          <a:xfrm>
            <a:off x="6446520" y="2423160"/>
            <a:ext cx="2057400" cy="896112"/>
          </a:xfrm>
          <a:prstGeom prst="roundRect">
            <a:avLst>
              <a:gd name="adj" fmla="val 4082"/>
            </a:avLst>
          </a:prstGeom>
          <a:solidFill>
            <a:srgbClr val="ECFDF3"/>
          </a:solidFill>
          <a:ln w="10160">
            <a:solidFill>
              <a:srgbClr val="D0D5DD"/>
            </a:solidFill>
            <a:prstDash val="solid"/>
          </a:ln>
        </p:spPr>
      </p:sp>
      <p:sp>
        <p:nvSpPr>
          <p:cNvPr id="9" name="Text 6"/>
          <p:cNvSpPr/>
          <p:nvPr/>
        </p:nvSpPr>
        <p:spPr>
          <a:xfrm>
            <a:off x="6592824" y="2542032"/>
            <a:ext cx="1764792" cy="228600"/>
          </a:xfrm>
          <a:prstGeom prst="rect">
            <a:avLst/>
          </a:prstGeom>
          <a:noFill/>
          <a:ln/>
        </p:spPr>
        <p:txBody>
          <a:bodyPr wrap="square" lIns="0" tIns="0" rIns="0" bIns="0" rtlCol="0" anchor="ctr">
            <a:normAutofit lnSpcReduction="10000"/>
          </a:bodyPr>
          <a:lstStyle/>
          <a:p>
            <a:pPr marL="0" indent="0">
              <a:buNone/>
            </a:pPr>
            <a:r>
              <a:rPr lang="en-US" sz="1600" b="1" dirty="0">
                <a:solidFill>
                  <a:srgbClr val="16803C"/>
                </a:solidFill>
              </a:rPr>
              <a:t>+4.09%</a:t>
            </a:r>
            <a:endParaRPr lang="en-US" sz="1600" dirty="0"/>
          </a:p>
        </p:txBody>
      </p:sp>
      <p:sp>
        <p:nvSpPr>
          <p:cNvPr id="10" name="Text 7"/>
          <p:cNvSpPr/>
          <p:nvPr/>
        </p:nvSpPr>
        <p:spPr>
          <a:xfrm>
            <a:off x="6592824" y="2834640"/>
            <a:ext cx="1764792" cy="164592"/>
          </a:xfrm>
          <a:prstGeom prst="rect">
            <a:avLst/>
          </a:prstGeom>
          <a:noFill/>
          <a:ln/>
        </p:spPr>
        <p:txBody>
          <a:bodyPr wrap="square" lIns="0" tIns="0" rIns="0" bIns="0" rtlCol="0" anchor="ctr">
            <a:normAutofit/>
          </a:bodyPr>
          <a:lstStyle/>
          <a:p>
            <a:pPr marL="0" indent="0">
              <a:buNone/>
            </a:pPr>
            <a:r>
              <a:rPr lang="en-US" sz="830" b="1" dirty="0">
                <a:solidFill>
                  <a:srgbClr val="1F2937"/>
                </a:solidFill>
              </a:rPr>
              <a:t>net revenue gain</a:t>
            </a:r>
            <a:endParaRPr lang="en-US" sz="830" dirty="0"/>
          </a:p>
        </p:txBody>
      </p:sp>
      <p:sp>
        <p:nvSpPr>
          <p:cNvPr id="11" name="Text 8"/>
          <p:cNvSpPr/>
          <p:nvPr/>
        </p:nvSpPr>
        <p:spPr>
          <a:xfrm>
            <a:off x="6592824" y="3063240"/>
            <a:ext cx="1764792" cy="164592"/>
          </a:xfrm>
          <a:prstGeom prst="rect">
            <a:avLst/>
          </a:prstGeom>
          <a:noFill/>
          <a:ln/>
        </p:spPr>
        <p:txBody>
          <a:bodyPr wrap="square" lIns="0" tIns="0" rIns="0" bIns="0" rtlCol="0" anchor="ctr">
            <a:normAutofit/>
          </a:bodyPr>
          <a:lstStyle/>
          <a:p>
            <a:pPr marL="0" indent="0">
              <a:buNone/>
            </a:pPr>
            <a:r>
              <a:rPr lang="en-US" sz="730" dirty="0">
                <a:solidFill>
                  <a:srgbClr val="667085"/>
                </a:solidFill>
              </a:rPr>
              <a:t>after elasticity</a:t>
            </a:r>
            <a:endParaRPr lang="en-US" sz="730" dirty="0"/>
          </a:p>
        </p:txBody>
      </p:sp>
      <p:sp>
        <p:nvSpPr>
          <p:cNvPr id="12" name="Shape 9"/>
          <p:cNvSpPr/>
          <p:nvPr/>
        </p:nvSpPr>
        <p:spPr>
          <a:xfrm>
            <a:off x="8915400" y="2423160"/>
            <a:ext cx="2057400" cy="896112"/>
          </a:xfrm>
          <a:prstGeom prst="roundRect">
            <a:avLst>
              <a:gd name="adj" fmla="val 4082"/>
            </a:avLst>
          </a:prstGeom>
          <a:solidFill>
            <a:srgbClr val="EFF6FF"/>
          </a:solidFill>
          <a:ln w="10160">
            <a:solidFill>
              <a:srgbClr val="D0D5DD"/>
            </a:solidFill>
            <a:prstDash val="solid"/>
          </a:ln>
        </p:spPr>
      </p:sp>
      <p:sp>
        <p:nvSpPr>
          <p:cNvPr id="13" name="Text 10"/>
          <p:cNvSpPr/>
          <p:nvPr/>
        </p:nvSpPr>
        <p:spPr>
          <a:xfrm>
            <a:off x="9061704" y="2542032"/>
            <a:ext cx="1764792" cy="228600"/>
          </a:xfrm>
          <a:prstGeom prst="rect">
            <a:avLst/>
          </a:prstGeom>
          <a:noFill/>
          <a:ln/>
        </p:spPr>
        <p:txBody>
          <a:bodyPr wrap="square" lIns="0" tIns="0" rIns="0" bIns="0" rtlCol="0" anchor="ctr">
            <a:normAutofit lnSpcReduction="10000"/>
          </a:bodyPr>
          <a:lstStyle/>
          <a:p>
            <a:pPr marL="0" indent="0">
              <a:buNone/>
            </a:pPr>
            <a:r>
              <a:rPr lang="en-US" sz="1600" b="1" dirty="0">
                <a:solidFill>
                  <a:srgbClr val="2563EB"/>
                </a:solidFill>
              </a:rPr>
              <a:t>98.2%</a:t>
            </a:r>
            <a:endParaRPr lang="en-US" sz="1600" dirty="0"/>
          </a:p>
        </p:txBody>
      </p:sp>
      <p:sp>
        <p:nvSpPr>
          <p:cNvPr id="14" name="Text 11"/>
          <p:cNvSpPr/>
          <p:nvPr/>
        </p:nvSpPr>
        <p:spPr>
          <a:xfrm>
            <a:off x="9061704" y="2834640"/>
            <a:ext cx="1764792" cy="164592"/>
          </a:xfrm>
          <a:prstGeom prst="rect">
            <a:avLst/>
          </a:prstGeom>
          <a:noFill/>
          <a:ln/>
        </p:spPr>
        <p:txBody>
          <a:bodyPr wrap="square" lIns="0" tIns="0" rIns="0" bIns="0" rtlCol="0" anchor="ctr">
            <a:normAutofit/>
          </a:bodyPr>
          <a:lstStyle/>
          <a:p>
            <a:pPr marL="0" indent="0">
              <a:buNone/>
            </a:pPr>
            <a:r>
              <a:rPr lang="en-US" sz="830" b="1" dirty="0">
                <a:solidFill>
                  <a:srgbClr val="1F2937"/>
                </a:solidFill>
              </a:rPr>
              <a:t>demand retained</a:t>
            </a:r>
            <a:endParaRPr lang="en-US" sz="830" dirty="0"/>
          </a:p>
        </p:txBody>
      </p:sp>
      <p:sp>
        <p:nvSpPr>
          <p:cNvPr id="15" name="Text 12"/>
          <p:cNvSpPr/>
          <p:nvPr/>
        </p:nvSpPr>
        <p:spPr>
          <a:xfrm>
            <a:off x="9061704" y="3063240"/>
            <a:ext cx="1764792" cy="164592"/>
          </a:xfrm>
          <a:prstGeom prst="rect">
            <a:avLst/>
          </a:prstGeom>
          <a:noFill/>
          <a:ln/>
        </p:spPr>
        <p:txBody>
          <a:bodyPr wrap="square" lIns="0" tIns="0" rIns="0" bIns="0" rtlCol="0" anchor="ctr">
            <a:normAutofit/>
          </a:bodyPr>
          <a:lstStyle/>
          <a:p>
            <a:pPr marL="0" indent="0">
              <a:buNone/>
            </a:pPr>
            <a:r>
              <a:rPr lang="en-US" sz="730" dirty="0">
                <a:solidFill>
                  <a:srgbClr val="667085"/>
                </a:solidFill>
              </a:rPr>
              <a:t>customer response proxy</a:t>
            </a:r>
            <a:endParaRPr lang="en-US" sz="730" dirty="0"/>
          </a:p>
        </p:txBody>
      </p:sp>
      <p:sp>
        <p:nvSpPr>
          <p:cNvPr id="16" name="Shape 13"/>
          <p:cNvSpPr/>
          <p:nvPr/>
        </p:nvSpPr>
        <p:spPr>
          <a:xfrm>
            <a:off x="6446520" y="3657600"/>
            <a:ext cx="2057400" cy="896112"/>
          </a:xfrm>
          <a:prstGeom prst="roundRect">
            <a:avLst>
              <a:gd name="adj" fmla="val 4082"/>
            </a:avLst>
          </a:prstGeom>
          <a:solidFill>
            <a:srgbClr val="F6F7F9"/>
          </a:solidFill>
          <a:ln w="10160">
            <a:solidFill>
              <a:srgbClr val="D0D5DD"/>
            </a:solidFill>
            <a:prstDash val="solid"/>
          </a:ln>
        </p:spPr>
      </p:sp>
      <p:sp>
        <p:nvSpPr>
          <p:cNvPr id="17" name="Text 14"/>
          <p:cNvSpPr/>
          <p:nvPr/>
        </p:nvSpPr>
        <p:spPr>
          <a:xfrm>
            <a:off x="6592824" y="3776472"/>
            <a:ext cx="1764792" cy="228600"/>
          </a:xfrm>
          <a:prstGeom prst="rect">
            <a:avLst/>
          </a:prstGeom>
          <a:noFill/>
          <a:ln/>
        </p:spPr>
        <p:txBody>
          <a:bodyPr wrap="square" lIns="0" tIns="0" rIns="0" bIns="0" rtlCol="0" anchor="ctr">
            <a:normAutofit lnSpcReduction="10000"/>
          </a:bodyPr>
          <a:lstStyle/>
          <a:p>
            <a:pPr marL="0" indent="0">
              <a:buNone/>
            </a:pPr>
            <a:r>
              <a:rPr lang="en-US" sz="1600" b="1" dirty="0">
                <a:solidFill>
                  <a:srgbClr val="1F2937"/>
                </a:solidFill>
              </a:rPr>
              <a:t>$0.3181/kWh</a:t>
            </a:r>
            <a:endParaRPr lang="en-US" sz="1600" dirty="0"/>
          </a:p>
        </p:txBody>
      </p:sp>
      <p:sp>
        <p:nvSpPr>
          <p:cNvPr id="18" name="Text 15"/>
          <p:cNvSpPr/>
          <p:nvPr/>
        </p:nvSpPr>
        <p:spPr>
          <a:xfrm>
            <a:off x="6592824" y="4069080"/>
            <a:ext cx="1764792" cy="164592"/>
          </a:xfrm>
          <a:prstGeom prst="rect">
            <a:avLst/>
          </a:prstGeom>
          <a:noFill/>
          <a:ln/>
        </p:spPr>
        <p:txBody>
          <a:bodyPr wrap="square" lIns="0" tIns="0" rIns="0" bIns="0" rtlCol="0" anchor="ctr">
            <a:normAutofit/>
          </a:bodyPr>
          <a:lstStyle/>
          <a:p>
            <a:pPr marL="0" indent="0">
              <a:buNone/>
            </a:pPr>
            <a:r>
              <a:rPr lang="en-US" sz="830" b="1" dirty="0">
                <a:solidFill>
                  <a:srgbClr val="1F2937"/>
                </a:solidFill>
              </a:rPr>
              <a:t>pricing efficiency</a:t>
            </a:r>
            <a:endParaRPr lang="en-US" sz="830" dirty="0"/>
          </a:p>
        </p:txBody>
      </p:sp>
      <p:sp>
        <p:nvSpPr>
          <p:cNvPr id="19" name="Text 16"/>
          <p:cNvSpPr/>
          <p:nvPr/>
        </p:nvSpPr>
        <p:spPr>
          <a:xfrm>
            <a:off x="6592824" y="4297680"/>
            <a:ext cx="1764792" cy="164592"/>
          </a:xfrm>
          <a:prstGeom prst="rect">
            <a:avLst/>
          </a:prstGeom>
          <a:noFill/>
          <a:ln/>
        </p:spPr>
        <p:txBody>
          <a:bodyPr wrap="square" lIns="0" tIns="0" rIns="0" bIns="0" rtlCol="0" anchor="ctr">
            <a:normAutofit/>
          </a:bodyPr>
          <a:lstStyle/>
          <a:p>
            <a:pPr marL="0" indent="0">
              <a:buNone/>
            </a:pPr>
            <a:r>
              <a:rPr lang="en-US" sz="730" dirty="0">
                <a:solidFill>
                  <a:srgbClr val="667085"/>
                </a:solidFill>
              </a:rPr>
              <a:t>baseline was $0.3000</a:t>
            </a:r>
            <a:endParaRPr lang="en-US" sz="730" dirty="0"/>
          </a:p>
        </p:txBody>
      </p:sp>
      <p:sp>
        <p:nvSpPr>
          <p:cNvPr id="20" name="Shape 17"/>
          <p:cNvSpPr/>
          <p:nvPr/>
        </p:nvSpPr>
        <p:spPr>
          <a:xfrm>
            <a:off x="8915400" y="3657600"/>
            <a:ext cx="2057400" cy="896112"/>
          </a:xfrm>
          <a:prstGeom prst="roundRect">
            <a:avLst>
              <a:gd name="adj" fmla="val 4082"/>
            </a:avLst>
          </a:prstGeom>
          <a:solidFill>
            <a:srgbClr val="FFFAEB"/>
          </a:solidFill>
          <a:ln w="10160">
            <a:solidFill>
              <a:srgbClr val="D0D5DD"/>
            </a:solidFill>
            <a:prstDash val="solid"/>
          </a:ln>
        </p:spPr>
      </p:sp>
      <p:sp>
        <p:nvSpPr>
          <p:cNvPr id="21" name="Text 18"/>
          <p:cNvSpPr/>
          <p:nvPr/>
        </p:nvSpPr>
        <p:spPr>
          <a:xfrm>
            <a:off x="9061704" y="3776472"/>
            <a:ext cx="1764792" cy="228600"/>
          </a:xfrm>
          <a:prstGeom prst="rect">
            <a:avLst/>
          </a:prstGeom>
          <a:noFill/>
          <a:ln/>
        </p:spPr>
        <p:txBody>
          <a:bodyPr wrap="square" lIns="0" tIns="0" rIns="0" bIns="0" rtlCol="0" anchor="ctr">
            <a:normAutofit lnSpcReduction="10000"/>
          </a:bodyPr>
          <a:lstStyle/>
          <a:p>
            <a:pPr marL="0" indent="0">
              <a:buNone/>
            </a:pPr>
            <a:r>
              <a:rPr lang="en-US" sz="1600" b="1" dirty="0">
                <a:solidFill>
                  <a:srgbClr val="B45309"/>
                </a:solidFill>
              </a:rPr>
              <a:t>2.03%</a:t>
            </a:r>
            <a:endParaRPr lang="en-US" sz="1600" dirty="0"/>
          </a:p>
        </p:txBody>
      </p:sp>
      <p:sp>
        <p:nvSpPr>
          <p:cNvPr id="22" name="Text 19"/>
          <p:cNvSpPr/>
          <p:nvPr/>
        </p:nvSpPr>
        <p:spPr>
          <a:xfrm>
            <a:off x="9061704" y="4069080"/>
            <a:ext cx="1764792" cy="164592"/>
          </a:xfrm>
          <a:prstGeom prst="rect">
            <a:avLst/>
          </a:prstGeom>
          <a:noFill/>
          <a:ln/>
        </p:spPr>
        <p:txBody>
          <a:bodyPr wrap="square" lIns="0" tIns="0" rIns="0" bIns="0" rtlCol="0" anchor="ctr">
            <a:normAutofit/>
          </a:bodyPr>
          <a:lstStyle/>
          <a:p>
            <a:pPr marL="0" indent="0">
              <a:buNone/>
            </a:pPr>
            <a:r>
              <a:rPr lang="en-US" sz="830" b="1" dirty="0">
                <a:solidFill>
                  <a:srgbClr val="1F2937"/>
                </a:solidFill>
              </a:rPr>
              <a:t>wait proxy reduction</a:t>
            </a:r>
            <a:endParaRPr lang="en-US" sz="830" dirty="0"/>
          </a:p>
        </p:txBody>
      </p:sp>
      <p:sp>
        <p:nvSpPr>
          <p:cNvPr id="23" name="Text 20"/>
          <p:cNvSpPr/>
          <p:nvPr/>
        </p:nvSpPr>
        <p:spPr>
          <a:xfrm>
            <a:off x="9061704" y="4297680"/>
            <a:ext cx="1764792" cy="164592"/>
          </a:xfrm>
          <a:prstGeom prst="rect">
            <a:avLst/>
          </a:prstGeom>
          <a:noFill/>
          <a:ln/>
        </p:spPr>
        <p:txBody>
          <a:bodyPr wrap="square" lIns="0" tIns="0" rIns="0" bIns="0" rtlCol="0" anchor="ctr">
            <a:normAutofit/>
          </a:bodyPr>
          <a:lstStyle/>
          <a:p>
            <a:pPr marL="0" indent="0">
              <a:buNone/>
            </a:pPr>
            <a:r>
              <a:rPr lang="en-US" sz="730" dirty="0">
                <a:solidFill>
                  <a:srgbClr val="667085"/>
                </a:solidFill>
              </a:rPr>
              <a:t>UrbanEV congested hours</a:t>
            </a:r>
            <a:endParaRPr lang="en-US" sz="730" dirty="0"/>
          </a:p>
        </p:txBody>
      </p:sp>
      <p:sp>
        <p:nvSpPr>
          <p:cNvPr id="24" name="Text 21"/>
          <p:cNvSpPr/>
          <p:nvPr/>
        </p:nvSpPr>
        <p:spPr>
          <a:xfrm>
            <a:off x="6473952" y="4983480"/>
            <a:ext cx="4498848" cy="731520"/>
          </a:xfrm>
          <a:prstGeom prst="rect">
            <a:avLst/>
          </a:prstGeom>
          <a:noFill/>
          <a:ln/>
        </p:spPr>
        <p:txBody>
          <a:bodyPr wrap="square" lIns="0" tIns="0" rIns="0" bIns="0" rtlCol="0" anchor="t">
            <a:normAutofit/>
          </a:bodyPr>
          <a:lstStyle/>
          <a:p>
            <a:pPr marL="0" indent="0">
              <a:buNone/>
            </a:pPr>
            <a:r>
              <a:rPr lang="en-US" sz="870" dirty="0">
                <a:solidFill>
                  <a:srgbClr val="344054"/>
                </a:solidFill>
              </a:rPr>
              <a:t>Final thresholds: surge 0.575, discount 0.1. Final tier mix remains reasonable, with about 9.5% surge and 1.6% discount sessions.</a:t>
            </a:r>
            <a:endParaRPr lang="en-US" sz="870" dirty="0"/>
          </a:p>
        </p:txBody>
      </p:sp>
      <p:sp>
        <p:nvSpPr>
          <p:cNvPr id="25" name="Text 22"/>
          <p:cNvSpPr/>
          <p:nvPr/>
        </p:nvSpPr>
        <p:spPr>
          <a:xfrm>
            <a:off x="502920" y="6492240"/>
            <a:ext cx="11155680" cy="182880"/>
          </a:xfrm>
          <a:prstGeom prst="rect">
            <a:avLst/>
          </a:prstGeom>
          <a:noFill/>
          <a:ln/>
        </p:spPr>
        <p:txBody>
          <a:bodyPr wrap="square" lIns="0" tIns="0" rIns="0" bIns="0" rtlCol="0" anchor="ctr"/>
          <a:lstStyle/>
          <a:p>
            <a:pPr marL="0" indent="0">
              <a:buNone/>
            </a:pPr>
            <a:r>
              <a:rPr lang="en-US" sz="750" dirty="0">
                <a:solidFill>
                  <a:srgbClr val="98A2B3"/>
                </a:solidFill>
              </a:rPr>
              <a:t>EV Dynamic Tariff Optimization | 7</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274320"/>
            <a:ext cx="11155680" cy="201168"/>
          </a:xfrm>
          <a:prstGeom prst="rect">
            <a:avLst/>
          </a:prstGeom>
          <a:noFill/>
          <a:ln/>
        </p:spPr>
        <p:txBody>
          <a:bodyPr wrap="square" lIns="0" tIns="0" rIns="0" bIns="0" rtlCol="0" anchor="ctr"/>
          <a:lstStyle/>
          <a:p>
            <a:pPr marL="0" indent="0">
              <a:buNone/>
            </a:pPr>
            <a:r>
              <a:rPr lang="en-US" sz="850" b="1" dirty="0">
                <a:solidFill>
                  <a:srgbClr val="667085"/>
                </a:solidFill>
              </a:rPr>
              <a:t>07 | Business implications and limitations</a:t>
            </a:r>
            <a:endParaRPr lang="en-US" sz="850" dirty="0"/>
          </a:p>
        </p:txBody>
      </p:sp>
      <p:sp>
        <p:nvSpPr>
          <p:cNvPr id="3" name="Text 1"/>
          <p:cNvSpPr/>
          <p:nvPr/>
        </p:nvSpPr>
        <p:spPr>
          <a:xfrm>
            <a:off x="502920" y="566928"/>
            <a:ext cx="11064240" cy="457200"/>
          </a:xfrm>
          <a:prstGeom prst="rect">
            <a:avLst/>
          </a:prstGeom>
          <a:noFill/>
          <a:ln/>
        </p:spPr>
        <p:txBody>
          <a:bodyPr wrap="square" lIns="0" tIns="0" rIns="0" bIns="0" rtlCol="0" anchor="ctr">
            <a:normAutofit/>
          </a:bodyPr>
          <a:lstStyle/>
          <a:p>
            <a:pPr marL="0" indent="0">
              <a:buNone/>
            </a:pPr>
            <a:r>
              <a:rPr lang="en-US" sz="2200" b="1" dirty="0">
                <a:solidFill>
                  <a:srgbClr val="1F2937"/>
                </a:solidFill>
              </a:rPr>
              <a:t>The model is useful as a decision-support tool, not a final deployment system</a:t>
            </a:r>
            <a:endParaRPr lang="en-US" sz="2200" dirty="0"/>
          </a:p>
        </p:txBody>
      </p:sp>
      <p:sp>
        <p:nvSpPr>
          <p:cNvPr id="4" name="Shape 2"/>
          <p:cNvSpPr/>
          <p:nvPr/>
        </p:nvSpPr>
        <p:spPr>
          <a:xfrm>
            <a:off x="502920" y="1115568"/>
            <a:ext cx="11155680" cy="0"/>
          </a:xfrm>
          <a:prstGeom prst="line">
            <a:avLst/>
          </a:prstGeom>
          <a:noFill/>
          <a:ln w="12700">
            <a:solidFill>
              <a:srgbClr val="D0D5DD"/>
            </a:solidFill>
            <a:prstDash val="solid"/>
          </a:ln>
        </p:spPr>
      </p:sp>
      <p:sp>
        <p:nvSpPr>
          <p:cNvPr id="5" name="Text 3"/>
          <p:cNvSpPr/>
          <p:nvPr/>
        </p:nvSpPr>
        <p:spPr>
          <a:xfrm>
            <a:off x="713232" y="1417320"/>
            <a:ext cx="3657600" cy="201168"/>
          </a:xfrm>
          <a:prstGeom prst="rect">
            <a:avLst/>
          </a:prstGeom>
          <a:noFill/>
          <a:ln/>
        </p:spPr>
        <p:txBody>
          <a:bodyPr wrap="square" lIns="0" tIns="0" rIns="0" bIns="0" rtlCol="0" anchor="ctr"/>
          <a:lstStyle/>
          <a:p>
            <a:pPr marL="0" indent="0">
              <a:buNone/>
            </a:pPr>
            <a:r>
              <a:rPr lang="en-US" sz="850" b="1" dirty="0">
                <a:solidFill>
                  <a:srgbClr val="16803C"/>
                </a:solidFill>
              </a:rPr>
              <a:t>Business and operational implications</a:t>
            </a:r>
            <a:endParaRPr lang="en-US" sz="850" dirty="0"/>
          </a:p>
        </p:txBody>
      </p:sp>
      <p:sp>
        <p:nvSpPr>
          <p:cNvPr id="6" name="Shape 4"/>
          <p:cNvSpPr/>
          <p:nvPr/>
        </p:nvSpPr>
        <p:spPr>
          <a:xfrm>
            <a:off x="777240" y="1856232"/>
            <a:ext cx="64008" cy="64008"/>
          </a:xfrm>
          <a:prstGeom prst="ellipse">
            <a:avLst/>
          </a:prstGeom>
          <a:solidFill>
            <a:srgbClr val="16803C"/>
          </a:solidFill>
          <a:ln w="12700">
            <a:solidFill>
              <a:srgbClr val="16803C"/>
            </a:solidFill>
            <a:prstDash val="solid"/>
          </a:ln>
        </p:spPr>
      </p:sp>
      <p:sp>
        <p:nvSpPr>
          <p:cNvPr id="7" name="Text 5"/>
          <p:cNvSpPr/>
          <p:nvPr/>
        </p:nvSpPr>
        <p:spPr>
          <a:xfrm>
            <a:off x="941832" y="1783080"/>
            <a:ext cx="5257800" cy="420624"/>
          </a:xfrm>
          <a:prstGeom prst="rect">
            <a:avLst/>
          </a:prstGeom>
          <a:noFill/>
          <a:ln/>
        </p:spPr>
        <p:txBody>
          <a:bodyPr wrap="square" lIns="0" tIns="0" rIns="0" bIns="0" rtlCol="0" anchor="t">
            <a:normAutofit/>
          </a:bodyPr>
          <a:lstStyle/>
          <a:p>
            <a:pPr marL="0" indent="0">
              <a:buNone/>
            </a:pPr>
            <a:r>
              <a:rPr lang="en-US" sz="950" dirty="0">
                <a:solidFill>
                  <a:srgbClr val="344054"/>
                </a:solidFill>
              </a:rPr>
              <a:t>A forecast-led tariff can improve revenue while still keeping customer demand largely retained.</a:t>
            </a:r>
            <a:endParaRPr lang="en-US" sz="950" dirty="0"/>
          </a:p>
        </p:txBody>
      </p:sp>
      <p:sp>
        <p:nvSpPr>
          <p:cNvPr id="8" name="Shape 6"/>
          <p:cNvSpPr/>
          <p:nvPr/>
        </p:nvSpPr>
        <p:spPr>
          <a:xfrm>
            <a:off x="777240" y="2313432"/>
            <a:ext cx="64008" cy="64008"/>
          </a:xfrm>
          <a:prstGeom prst="ellipse">
            <a:avLst/>
          </a:prstGeom>
          <a:solidFill>
            <a:srgbClr val="16803C"/>
          </a:solidFill>
          <a:ln w="12700">
            <a:solidFill>
              <a:srgbClr val="16803C"/>
            </a:solidFill>
            <a:prstDash val="solid"/>
          </a:ln>
        </p:spPr>
      </p:sp>
      <p:sp>
        <p:nvSpPr>
          <p:cNvPr id="9" name="Text 7"/>
          <p:cNvSpPr/>
          <p:nvPr/>
        </p:nvSpPr>
        <p:spPr>
          <a:xfrm>
            <a:off x="941832" y="2240280"/>
            <a:ext cx="5257800" cy="420624"/>
          </a:xfrm>
          <a:prstGeom prst="rect">
            <a:avLst/>
          </a:prstGeom>
          <a:noFill/>
          <a:ln/>
        </p:spPr>
        <p:txBody>
          <a:bodyPr wrap="square" lIns="0" tIns="0" rIns="0" bIns="0" rtlCol="0" anchor="t">
            <a:normAutofit/>
          </a:bodyPr>
          <a:lstStyle/>
          <a:p>
            <a:pPr marL="0" indent="0">
              <a:buNone/>
            </a:pPr>
            <a:r>
              <a:rPr lang="en-US" sz="950" dirty="0">
                <a:solidFill>
                  <a:srgbClr val="344054"/>
                </a:solidFill>
              </a:rPr>
              <a:t>The network should not use one blanket price: time and zone patterns both matter.</a:t>
            </a:r>
            <a:endParaRPr lang="en-US" sz="950" dirty="0"/>
          </a:p>
        </p:txBody>
      </p:sp>
      <p:sp>
        <p:nvSpPr>
          <p:cNvPr id="10" name="Shape 8"/>
          <p:cNvSpPr/>
          <p:nvPr/>
        </p:nvSpPr>
        <p:spPr>
          <a:xfrm>
            <a:off x="777240" y="2770632"/>
            <a:ext cx="64008" cy="64008"/>
          </a:xfrm>
          <a:prstGeom prst="ellipse">
            <a:avLst/>
          </a:prstGeom>
          <a:solidFill>
            <a:srgbClr val="16803C"/>
          </a:solidFill>
          <a:ln w="12700">
            <a:solidFill>
              <a:srgbClr val="16803C"/>
            </a:solidFill>
            <a:prstDash val="solid"/>
          </a:ln>
        </p:spPr>
      </p:sp>
      <p:sp>
        <p:nvSpPr>
          <p:cNvPr id="11" name="Text 9"/>
          <p:cNvSpPr/>
          <p:nvPr/>
        </p:nvSpPr>
        <p:spPr>
          <a:xfrm>
            <a:off x="941832" y="2697480"/>
            <a:ext cx="5257800" cy="420624"/>
          </a:xfrm>
          <a:prstGeom prst="rect">
            <a:avLst/>
          </a:prstGeom>
          <a:noFill/>
          <a:ln/>
        </p:spPr>
        <p:txBody>
          <a:bodyPr wrap="square" lIns="0" tIns="0" rIns="0" bIns="0" rtlCol="0" anchor="t">
            <a:normAutofit/>
          </a:bodyPr>
          <a:lstStyle/>
          <a:p>
            <a:pPr marL="0" indent="0">
              <a:buNone/>
            </a:pPr>
            <a:r>
              <a:rPr lang="en-US" sz="950" dirty="0">
                <a:solidFill>
                  <a:srgbClr val="344054"/>
                </a:solidFill>
              </a:rPr>
              <a:t>Monitoring should include user-side metrics, not only revenue, because aggressive pricing can reduce acceptance.</a:t>
            </a:r>
            <a:endParaRPr lang="en-US" sz="950" dirty="0"/>
          </a:p>
        </p:txBody>
      </p:sp>
      <p:sp>
        <p:nvSpPr>
          <p:cNvPr id="12" name="Shape 10"/>
          <p:cNvSpPr/>
          <p:nvPr/>
        </p:nvSpPr>
        <p:spPr>
          <a:xfrm>
            <a:off x="777240" y="3227832"/>
            <a:ext cx="64008" cy="64008"/>
          </a:xfrm>
          <a:prstGeom prst="ellipse">
            <a:avLst/>
          </a:prstGeom>
          <a:solidFill>
            <a:srgbClr val="16803C"/>
          </a:solidFill>
          <a:ln w="12700">
            <a:solidFill>
              <a:srgbClr val="16803C"/>
            </a:solidFill>
            <a:prstDash val="solid"/>
          </a:ln>
        </p:spPr>
      </p:sp>
      <p:sp>
        <p:nvSpPr>
          <p:cNvPr id="13" name="Text 11"/>
          <p:cNvSpPr/>
          <p:nvPr/>
        </p:nvSpPr>
        <p:spPr>
          <a:xfrm>
            <a:off x="941832" y="3154680"/>
            <a:ext cx="5257800" cy="420624"/>
          </a:xfrm>
          <a:prstGeom prst="rect">
            <a:avLst/>
          </a:prstGeom>
          <a:noFill/>
          <a:ln/>
        </p:spPr>
        <p:txBody>
          <a:bodyPr wrap="square" lIns="0" tIns="0" rIns="0" bIns="0" rtlCol="0" anchor="t">
            <a:normAutofit/>
          </a:bodyPr>
          <a:lstStyle/>
          <a:p>
            <a:pPr marL="0" indent="0">
              <a:buNone/>
            </a:pPr>
            <a:r>
              <a:rPr lang="en-US" sz="950" dirty="0">
                <a:solidFill>
                  <a:srgbClr val="344054"/>
                </a:solidFill>
              </a:rPr>
              <a:t>Discounts should be targeted to genuinely underused periods; otherwise they can increase congestion.</a:t>
            </a:r>
            <a:endParaRPr lang="en-US" sz="950" dirty="0"/>
          </a:p>
        </p:txBody>
      </p:sp>
      <p:sp>
        <p:nvSpPr>
          <p:cNvPr id="14" name="Text 12"/>
          <p:cNvSpPr/>
          <p:nvPr/>
        </p:nvSpPr>
        <p:spPr>
          <a:xfrm>
            <a:off x="6400800" y="1417320"/>
            <a:ext cx="3657600" cy="201168"/>
          </a:xfrm>
          <a:prstGeom prst="rect">
            <a:avLst/>
          </a:prstGeom>
          <a:noFill/>
          <a:ln/>
        </p:spPr>
        <p:txBody>
          <a:bodyPr wrap="square" lIns="0" tIns="0" rIns="0" bIns="0" rtlCol="0" anchor="ctr"/>
          <a:lstStyle/>
          <a:p>
            <a:pPr marL="0" indent="0">
              <a:buNone/>
            </a:pPr>
            <a:r>
              <a:rPr lang="en-US" sz="850" b="1" dirty="0">
                <a:solidFill>
                  <a:srgbClr val="B45309"/>
                </a:solidFill>
              </a:rPr>
              <a:t>Assumptions and limitations</a:t>
            </a:r>
            <a:endParaRPr lang="en-US" sz="850" dirty="0"/>
          </a:p>
        </p:txBody>
      </p:sp>
      <p:sp>
        <p:nvSpPr>
          <p:cNvPr id="15" name="Shape 13"/>
          <p:cNvSpPr/>
          <p:nvPr/>
        </p:nvSpPr>
        <p:spPr>
          <a:xfrm>
            <a:off x="6464808" y="1856232"/>
            <a:ext cx="64008" cy="64008"/>
          </a:xfrm>
          <a:prstGeom prst="ellipse">
            <a:avLst/>
          </a:prstGeom>
          <a:solidFill>
            <a:srgbClr val="B45309"/>
          </a:solidFill>
          <a:ln w="12700">
            <a:solidFill>
              <a:srgbClr val="B45309"/>
            </a:solidFill>
            <a:prstDash val="solid"/>
          </a:ln>
        </p:spPr>
      </p:sp>
      <p:sp>
        <p:nvSpPr>
          <p:cNvPr id="16" name="Text 14"/>
          <p:cNvSpPr/>
          <p:nvPr/>
        </p:nvSpPr>
        <p:spPr>
          <a:xfrm>
            <a:off x="6629400" y="1783080"/>
            <a:ext cx="4800600" cy="420624"/>
          </a:xfrm>
          <a:prstGeom prst="rect">
            <a:avLst/>
          </a:prstGeom>
          <a:noFill/>
          <a:ln/>
        </p:spPr>
        <p:txBody>
          <a:bodyPr wrap="square" lIns="0" tIns="0" rIns="0" bIns="0" rtlCol="0" anchor="t">
            <a:normAutofit/>
          </a:bodyPr>
          <a:lstStyle/>
          <a:p>
            <a:pPr marL="0" indent="0">
              <a:buNone/>
            </a:pPr>
            <a:r>
              <a:rPr lang="en-US" sz="950" dirty="0">
                <a:solidFill>
                  <a:srgbClr val="344054"/>
                </a:solidFill>
              </a:rPr>
              <a:t>Waiting time is not directly observed, so high-utilization UrbanEV periods are used as a proxy.</a:t>
            </a:r>
            <a:endParaRPr lang="en-US" sz="950" dirty="0"/>
          </a:p>
        </p:txBody>
      </p:sp>
      <p:sp>
        <p:nvSpPr>
          <p:cNvPr id="17" name="Shape 15"/>
          <p:cNvSpPr/>
          <p:nvPr/>
        </p:nvSpPr>
        <p:spPr>
          <a:xfrm>
            <a:off x="6464808" y="2313432"/>
            <a:ext cx="64008" cy="64008"/>
          </a:xfrm>
          <a:prstGeom prst="ellipse">
            <a:avLst/>
          </a:prstGeom>
          <a:solidFill>
            <a:srgbClr val="B45309"/>
          </a:solidFill>
          <a:ln w="12700">
            <a:solidFill>
              <a:srgbClr val="B45309"/>
            </a:solidFill>
            <a:prstDash val="solid"/>
          </a:ln>
        </p:spPr>
      </p:sp>
      <p:sp>
        <p:nvSpPr>
          <p:cNvPr id="18" name="Text 16"/>
          <p:cNvSpPr/>
          <p:nvPr/>
        </p:nvSpPr>
        <p:spPr>
          <a:xfrm>
            <a:off x="6629400" y="2240280"/>
            <a:ext cx="4800600" cy="420624"/>
          </a:xfrm>
          <a:prstGeom prst="rect">
            <a:avLst/>
          </a:prstGeom>
          <a:noFill/>
          <a:ln/>
        </p:spPr>
        <p:txBody>
          <a:bodyPr wrap="square" lIns="0" tIns="0" rIns="0" bIns="0" rtlCol="0" anchor="t">
            <a:normAutofit/>
          </a:bodyPr>
          <a:lstStyle/>
          <a:p>
            <a:pPr marL="0" indent="0">
              <a:buNone/>
            </a:pPr>
            <a:r>
              <a:rPr lang="en-US" sz="950" dirty="0">
                <a:solidFill>
                  <a:srgbClr val="344054"/>
                </a:solidFill>
              </a:rPr>
              <a:t>Customer response is simulated using price elasticity, not measured in a live A/B test.</a:t>
            </a:r>
            <a:endParaRPr lang="en-US" sz="950" dirty="0"/>
          </a:p>
        </p:txBody>
      </p:sp>
      <p:sp>
        <p:nvSpPr>
          <p:cNvPr id="19" name="Shape 17"/>
          <p:cNvSpPr/>
          <p:nvPr/>
        </p:nvSpPr>
        <p:spPr>
          <a:xfrm>
            <a:off x="6464808" y="2770632"/>
            <a:ext cx="64008" cy="64008"/>
          </a:xfrm>
          <a:prstGeom prst="ellipse">
            <a:avLst/>
          </a:prstGeom>
          <a:solidFill>
            <a:srgbClr val="B45309"/>
          </a:solidFill>
          <a:ln w="12700">
            <a:solidFill>
              <a:srgbClr val="B45309"/>
            </a:solidFill>
            <a:prstDash val="solid"/>
          </a:ln>
        </p:spPr>
      </p:sp>
      <p:sp>
        <p:nvSpPr>
          <p:cNvPr id="20" name="Text 18"/>
          <p:cNvSpPr/>
          <p:nvPr/>
        </p:nvSpPr>
        <p:spPr>
          <a:xfrm>
            <a:off x="6629400" y="2697480"/>
            <a:ext cx="4800600" cy="420624"/>
          </a:xfrm>
          <a:prstGeom prst="rect">
            <a:avLst/>
          </a:prstGeom>
          <a:noFill/>
          <a:ln/>
        </p:spPr>
        <p:txBody>
          <a:bodyPr wrap="square" lIns="0" tIns="0" rIns="0" bIns="0" rtlCol="0" anchor="t">
            <a:normAutofit/>
          </a:bodyPr>
          <a:lstStyle/>
          <a:p>
            <a:pPr marL="0" indent="0">
              <a:buNone/>
            </a:pPr>
            <a:r>
              <a:rPr lang="en-US" sz="950" dirty="0">
                <a:solidFill>
                  <a:srgbClr val="344054"/>
                </a:solidFill>
              </a:rPr>
              <a:t>ACN and UrbanEV come from different contexts, so the project reports metrics separately.</a:t>
            </a:r>
            <a:endParaRPr lang="en-US" sz="950" dirty="0"/>
          </a:p>
        </p:txBody>
      </p:sp>
      <p:sp>
        <p:nvSpPr>
          <p:cNvPr id="21" name="Shape 19"/>
          <p:cNvSpPr/>
          <p:nvPr/>
        </p:nvSpPr>
        <p:spPr>
          <a:xfrm>
            <a:off x="6464808" y="3227832"/>
            <a:ext cx="64008" cy="64008"/>
          </a:xfrm>
          <a:prstGeom prst="ellipse">
            <a:avLst/>
          </a:prstGeom>
          <a:solidFill>
            <a:srgbClr val="B45309"/>
          </a:solidFill>
          <a:ln w="12700">
            <a:solidFill>
              <a:srgbClr val="B45309"/>
            </a:solidFill>
            <a:prstDash val="solid"/>
          </a:ln>
        </p:spPr>
      </p:sp>
      <p:sp>
        <p:nvSpPr>
          <p:cNvPr id="22" name="Text 20"/>
          <p:cNvSpPr/>
          <p:nvPr/>
        </p:nvSpPr>
        <p:spPr>
          <a:xfrm>
            <a:off x="6629400" y="3154680"/>
            <a:ext cx="4800600" cy="420624"/>
          </a:xfrm>
          <a:prstGeom prst="rect">
            <a:avLst/>
          </a:prstGeom>
          <a:noFill/>
          <a:ln/>
        </p:spPr>
        <p:txBody>
          <a:bodyPr wrap="square" lIns="0" tIns="0" rIns="0" bIns="0" rtlCol="0" anchor="t">
            <a:normAutofit/>
          </a:bodyPr>
          <a:lstStyle/>
          <a:p>
            <a:pPr marL="0" indent="0">
              <a:buNone/>
            </a:pPr>
            <a:r>
              <a:rPr lang="en-US" sz="950" dirty="0">
                <a:solidFill>
                  <a:srgbClr val="344054"/>
                </a:solidFill>
              </a:rPr>
              <a:t>Real deployment would require policy review, fairness checks, and live validation.</a:t>
            </a:r>
            <a:endParaRPr lang="en-US" sz="950" dirty="0"/>
          </a:p>
        </p:txBody>
      </p:sp>
      <p:sp>
        <p:nvSpPr>
          <p:cNvPr id="23" name="Shape 21"/>
          <p:cNvSpPr/>
          <p:nvPr/>
        </p:nvSpPr>
        <p:spPr>
          <a:xfrm>
            <a:off x="777240" y="4983480"/>
            <a:ext cx="10561320" cy="777240"/>
          </a:xfrm>
          <a:prstGeom prst="roundRect">
            <a:avLst>
              <a:gd name="adj" fmla="val 4706"/>
            </a:avLst>
          </a:prstGeom>
          <a:solidFill>
            <a:srgbClr val="EFF6FF"/>
          </a:solidFill>
          <a:ln w="10160">
            <a:solidFill>
              <a:srgbClr val="D0D5DD"/>
            </a:solidFill>
            <a:prstDash val="solid"/>
          </a:ln>
        </p:spPr>
      </p:sp>
      <p:sp>
        <p:nvSpPr>
          <p:cNvPr id="24" name="Text 22"/>
          <p:cNvSpPr/>
          <p:nvPr/>
        </p:nvSpPr>
        <p:spPr>
          <a:xfrm>
            <a:off x="1024128" y="5230368"/>
            <a:ext cx="1234440" cy="182880"/>
          </a:xfrm>
          <a:prstGeom prst="rect">
            <a:avLst/>
          </a:prstGeom>
          <a:noFill/>
          <a:ln/>
        </p:spPr>
        <p:txBody>
          <a:bodyPr wrap="square" lIns="0" tIns="0" rIns="0" bIns="0" rtlCol="0" anchor="ctr"/>
          <a:lstStyle/>
          <a:p>
            <a:pPr marL="0" indent="0">
              <a:buNone/>
            </a:pPr>
            <a:r>
              <a:rPr lang="en-US" sz="950" b="1" dirty="0">
                <a:solidFill>
                  <a:srgbClr val="2563EB"/>
                </a:solidFill>
              </a:rPr>
              <a:t>Final takeaway</a:t>
            </a:r>
            <a:endParaRPr lang="en-US" sz="950" dirty="0"/>
          </a:p>
        </p:txBody>
      </p:sp>
      <p:sp>
        <p:nvSpPr>
          <p:cNvPr id="25" name="Text 23"/>
          <p:cNvSpPr/>
          <p:nvPr/>
        </p:nvSpPr>
        <p:spPr>
          <a:xfrm>
            <a:off x="2331720" y="5175504"/>
            <a:ext cx="8458200" cy="292608"/>
          </a:xfrm>
          <a:prstGeom prst="rect">
            <a:avLst/>
          </a:prstGeom>
          <a:noFill/>
          <a:ln/>
        </p:spPr>
        <p:txBody>
          <a:bodyPr wrap="square" lIns="0" tIns="0" rIns="0" bIns="0" rtlCol="0" anchor="ctr">
            <a:normAutofit fontScale="92500" lnSpcReduction="10000"/>
          </a:bodyPr>
          <a:lstStyle/>
          <a:p>
            <a:pPr marL="0" indent="0">
              <a:buNone/>
            </a:pPr>
            <a:r>
              <a:rPr lang="en-US" sz="1120" b="1" dirty="0">
                <a:solidFill>
                  <a:srgbClr val="1F2937"/>
                </a:solidFill>
              </a:rPr>
              <a:t>The project demonstrates a complete and transparent workflow: use data to predict demand, apply bounded dynamic tariffs, and keep improving the policy through monitoring rather than optimizing revenue alone.</a:t>
            </a:r>
            <a:endParaRPr lang="en-US" sz="1120" dirty="0"/>
          </a:p>
        </p:txBody>
      </p:sp>
      <p:sp>
        <p:nvSpPr>
          <p:cNvPr id="26" name="Text 24"/>
          <p:cNvSpPr/>
          <p:nvPr/>
        </p:nvSpPr>
        <p:spPr>
          <a:xfrm>
            <a:off x="502920" y="6492240"/>
            <a:ext cx="11155680" cy="182880"/>
          </a:xfrm>
          <a:prstGeom prst="rect">
            <a:avLst/>
          </a:prstGeom>
          <a:noFill/>
          <a:ln/>
        </p:spPr>
        <p:txBody>
          <a:bodyPr wrap="square" lIns="0" tIns="0" rIns="0" bIns="0" rtlCol="0" anchor="ctr"/>
          <a:lstStyle/>
          <a:p>
            <a:pPr marL="0" indent="0">
              <a:buNone/>
            </a:pPr>
            <a:r>
              <a:rPr lang="en-US" sz="750" dirty="0">
                <a:solidFill>
                  <a:srgbClr val="98A2B3"/>
                </a:solidFill>
              </a:rPr>
              <a:t>EV Dynamic Tariff Optimization | 8</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1321</Words>
  <Application>Microsoft Office PowerPoint</Application>
  <PresentationFormat>Widescreen</PresentationFormat>
  <Paragraphs>125</Paragraphs>
  <Slides>8</Slides>
  <Notes>8</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8</vt:i4>
      </vt:variant>
    </vt:vector>
  </HeadingPairs>
  <TitlesOfParts>
    <vt:vector size="10"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 Dynamic Tariff Optimization</dc:title>
  <dc:subject>EV Dynamic Tariff Optimization</dc:subject>
  <dc:creator>Socbiz Project</dc:creator>
  <cp:lastModifiedBy>NAVYA JAIN</cp:lastModifiedBy>
  <cp:revision>2</cp:revision>
  <dcterms:created xsi:type="dcterms:W3CDTF">2026-06-07T18:04:44Z</dcterms:created>
  <dcterms:modified xsi:type="dcterms:W3CDTF">2026-06-07T18:24:04Z</dcterms:modified>
</cp:coreProperties>
</file>