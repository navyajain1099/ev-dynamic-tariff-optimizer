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 Dynamic Tariff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A reproducible analytics pipeline for demand forecasting, bounded tariff decisions, and monitoring feedback in EV charging networks.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41080" y="502920"/>
            <a:ext cx="2834640" cy="5440680"/>
          </a:xfrm>
          <a:prstGeom prst="rect">
            <a:avLst/>
          </a:prstGeom>
          <a:solidFill>
            <a:srgbClr val="1D2733"/>
          </a:solidFill>
          <a:ln w="12700">
            <a:solidFill>
              <a:srgbClr val="1D27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15400" y="868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C6D6"/>
                </a:solidFill>
              </a:rPr>
              <a:t>What improved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15400" y="1325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+4.09%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net revenue gain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915400" y="2212848"/>
            <a:ext cx="2212848" cy="0"/>
          </a:xfrm>
          <a:prstGeom prst="line">
            <a:avLst/>
          </a:prstGeom>
          <a:noFill/>
          <a:ln w="12700">
            <a:solidFill>
              <a:srgbClr val="465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0" y="24871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98.2%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demand retained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15400" y="33467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2.03%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wait proxy reduction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15400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$0.3181/kWh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pricing efficiency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2148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56285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ED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737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best demand model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50932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R2 0.9183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99232" y="4434840"/>
            <a:ext cx="2148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456285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F5A"/>
                </a:solidFill>
              </a:rPr>
              <a:t>+4.62%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63824" y="48737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flat revenue comparison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63824" y="50932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ACN baseline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40096" y="4434840"/>
            <a:ext cx="214884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456285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+2.7%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4688" y="48737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off-peak uplift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504688" y="50932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UrbanEV proxy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8368" y="626364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OP'26 Analytics submission | latest generated outputs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| Objective and approach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answers three operational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246120" cy="1234440"/>
          </a:xfrm>
          <a:prstGeom prst="roundRect">
            <a:avLst>
              <a:gd name="adj" fmla="val 2963"/>
            </a:avLst>
          </a:prstGeom>
          <a:solidFill>
            <a:srgbClr val="EAF1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</a:rPr>
              <a:t>Demand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2733"/>
                </a:solidFill>
              </a:rPr>
              <a:t>When and where will charger utilization rise?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6552" y="1508760"/>
            <a:ext cx="3246120" cy="1234440"/>
          </a:xfrm>
          <a:prstGeom prst="roundRect">
            <a:avLst>
              <a:gd name="adj" fmla="val 2963"/>
            </a:avLst>
          </a:prstGeom>
          <a:solidFill>
            <a:srgbClr val="FFF4DB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719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791F"/>
                </a:solidFill>
              </a:rPr>
              <a:t>Tariff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9432" y="2029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2733"/>
                </a:solidFill>
              </a:rPr>
              <a:t>When should prices rise, stay flat, or offer discounts?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47304" y="1508760"/>
            <a:ext cx="3246120" cy="1234440"/>
          </a:xfrm>
          <a:prstGeom prst="roundRect">
            <a:avLst>
              <a:gd name="adj" fmla="val 2963"/>
            </a:avLst>
          </a:prstGeom>
          <a:solidFill>
            <a:srgbClr val="EAF7E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719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8F5A"/>
                </a:solidFill>
              </a:rPr>
              <a:t>Monitoring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30184" y="2029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2733"/>
                </a:solidFill>
              </a:rPr>
              <a:t>Did the policy improve revenue without damaging demand?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822192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4014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Preprocess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50008" y="4197096"/>
            <a:ext cx="50292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26080" y="3822192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4014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Explore demand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90288" y="4197096"/>
            <a:ext cx="50292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66360" y="3822192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2664" y="4014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Predict utilization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30568" y="4197096"/>
            <a:ext cx="50292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06640" y="3822192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4014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Set tariff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70848" y="4197096"/>
            <a:ext cx="50292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46920" y="3822192"/>
            <a:ext cx="16002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93224" y="4014216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04120" y="40233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Monitor KPIs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22960" y="5253228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The system is deliberately bounded: tariff changes are modest and evaluated with customer response assumptions.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" y="5673852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56327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Outputs are kept as CSVs so the final results can be inspected without rerunning the full pipeline.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| Data landscape and preprocessing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datasets are used for different parts of 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1234440" cy="384048"/>
          </a:xfrm>
          <a:prstGeom prst="rect">
            <a:avLst/>
          </a:prstGeom>
          <a:solidFill>
            <a:srgbClr val="1D2733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Dataset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892808" y="1417320"/>
            <a:ext cx="3886200" cy="384048"/>
          </a:xfrm>
          <a:prstGeom prst="rect">
            <a:avLst/>
          </a:prstGeom>
          <a:solidFill>
            <a:srgbClr val="1D2733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508760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Used for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779008" y="1417320"/>
            <a:ext cx="5623560" cy="384048"/>
          </a:xfrm>
          <a:prstGeom prst="rect">
            <a:avLst/>
          </a:prstGeom>
          <a:solidFill>
            <a:srgbClr val="1D2733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508760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Why it fits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58368" y="1801368"/>
            <a:ext cx="123444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9280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UrbanEV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92808" y="1801368"/>
            <a:ext cx="388620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892808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Forecasting, utilization, off-peak uplift, wait proxy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9008" y="1801368"/>
            <a:ext cx="5623560" cy="384048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892808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Large 5-minute urban charging data with spatial demand patterns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" y="2185416"/>
            <a:ext cx="123444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27685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ACN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92808" y="2185416"/>
            <a:ext cx="388620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276856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Revenue, customer response, pricing efficiency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79008" y="2185416"/>
            <a:ext cx="5623560" cy="384048"/>
          </a:xfrm>
          <a:prstGeom prst="rect">
            <a:avLst/>
          </a:prstGeom>
          <a:solidFill>
            <a:srgbClr val="F8FAFC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276856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D2733"/>
                </a:solidFill>
              </a:rPr>
              <a:t>Session-level workplace charging with energy delivered and timing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3232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6FED"/>
                </a:solidFill>
              </a:rPr>
              <a:t>Preprocessing choices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77240" y="3607308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Aligned UrbanEV to hourly utilization tables while retaining zone and time features.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4009644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39684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Converted ACN sessions into clean duration, energy, idle-time, and hourly demand features.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7240" y="4411980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3708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Kept currency contexts separate: UrbanEV for utilization behavior, ACN for USD revenue.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F5A"/>
                </a:solidFill>
              </a:rPr>
              <a:t>Main engineered signals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583680" y="3607308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Hour, day-of-week, weekend flag, lag utilization, rolling utilization, rolling volume.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0" y="4009644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48272" y="39684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Utilization thresholds for pricing: surge above 80%, discount below 30% for UrbanEV.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0" y="4411980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43708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ACN thresholds are calibrated separately because workplace charging has a different utilization scale.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| EDA findings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behavior supports time-aware and zone-aware pricing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pic>
        <p:nvPicPr>
          <p:cNvPr id="5" name="Image 0" descr="C:\Users\navya\OneDrive\Desktop\Socbiz_project\outputs\hourly_uti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53312"/>
            <a:ext cx="5321808" cy="2834640"/>
          </a:xfrm>
          <a:prstGeom prst="rect">
            <a:avLst/>
          </a:prstGeom>
        </p:spPr>
      </p:pic>
      <p:pic>
        <p:nvPicPr>
          <p:cNvPr id="6" name="Image 1" descr="C:\Users\navya\OneDrive\Desktop\Socbiz_project\outputs\zone_utilization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53312"/>
            <a:ext cx="5230368" cy="2834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4722876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41832" y="46817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UrbanEV demand has clear intraday structure, with predictable peak and off-peak windows.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77240" y="5116068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41832" y="5074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Zone utilization is uneven, so one flat price is unlikely to balance the network well.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77240" y="5509260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41832" y="54681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Discounts are only useful when spare capacity exists; otherwise they can worsen congestion.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| Demand prediction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XGBoost gives the strongest one-hour-ahead utilization forecast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pic>
        <p:nvPicPr>
          <p:cNvPr id="5" name="Image 0" descr="C:\Users\navya\OneDrive\Desktop\Socbiz_project\outputs\demand_predicti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5212080" cy="3017520"/>
          </a:xfrm>
          <a:prstGeom prst="rect">
            <a:avLst/>
          </a:prstGeom>
        </p:spPr>
      </p:pic>
      <p:pic>
        <p:nvPicPr>
          <p:cNvPr id="6" name="Image 1" descr="C:\Users\navya\OneDrive\Desktop\Socbiz_project\outputs\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389888"/>
            <a:ext cx="502920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4846320"/>
            <a:ext cx="1965960" cy="932688"/>
          </a:xfrm>
          <a:prstGeom prst="roundRect">
            <a:avLst>
              <a:gd name="adj" fmla="val 4902"/>
            </a:avLst>
          </a:prstGeom>
          <a:solidFill>
            <a:srgbClr val="EAF1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87552" y="497433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ED"/>
                </a:solidFill>
              </a:rPr>
              <a:t>0.0505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87552" y="528523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RMSE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87552" y="550468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lower is better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2971800" y="4846320"/>
            <a:ext cx="1965960" cy="932688"/>
          </a:xfrm>
          <a:prstGeom prst="roundRect">
            <a:avLst>
              <a:gd name="adj" fmla="val 4902"/>
            </a:avLst>
          </a:prstGeom>
          <a:solidFill>
            <a:srgbClr val="EAF1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36392" y="497433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ED"/>
                </a:solidFill>
              </a:rPr>
              <a:t>0.0299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136392" y="528523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MAE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136392" y="550468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average error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120640" y="4846320"/>
            <a:ext cx="1965960" cy="932688"/>
          </a:xfrm>
          <a:prstGeom prst="roundRect">
            <a:avLst>
              <a:gd name="adj" fmla="val 4902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85232" y="4974336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F5A"/>
                </a:solidFill>
              </a:rPr>
              <a:t>0.9183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285232" y="5285232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R2 score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285232" y="550468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variance explained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7635240" y="4809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733"/>
                </a:solidFill>
              </a:rPr>
              <a:t>Model comparison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635240" y="520293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733"/>
                </a:solidFill>
              </a:rPr>
              <a:t>XGBoost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8988552" y="5230368"/>
            <a:ext cx="2286000" cy="128016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988552" y="5230368"/>
            <a:ext cx="2098548" cy="128016"/>
          </a:xfrm>
          <a:prstGeom prst="rect">
            <a:avLst/>
          </a:prstGeom>
          <a:solidFill>
            <a:srgbClr val="1A8F5A"/>
          </a:solidFill>
          <a:ln w="12700">
            <a:solidFill>
              <a:srgbClr val="1A8F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402568" y="5193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91.8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635240" y="55686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733"/>
                </a:solidFill>
              </a:rPr>
              <a:t>LightGBM</a:t>
            </a:r>
            <a:endParaRPr lang="en-US" sz="830" dirty="0"/>
          </a:p>
        </p:txBody>
      </p:sp>
      <p:sp>
        <p:nvSpPr>
          <p:cNvPr id="25" name="Shape 21"/>
          <p:cNvSpPr/>
          <p:nvPr/>
        </p:nvSpPr>
        <p:spPr>
          <a:xfrm>
            <a:off x="8988552" y="5596128"/>
            <a:ext cx="2286000" cy="128016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988552" y="5596128"/>
            <a:ext cx="2084832" cy="128016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402568" y="55595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91.2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635240" y="59344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D2733"/>
                </a:solidFill>
              </a:rPr>
              <a:t>Random Forest</a:t>
            </a:r>
            <a:endParaRPr lang="en-US" sz="830" dirty="0"/>
          </a:p>
        </p:txBody>
      </p:sp>
      <p:sp>
        <p:nvSpPr>
          <p:cNvPr id="29" name="Shape 25"/>
          <p:cNvSpPr/>
          <p:nvPr/>
        </p:nvSpPr>
        <p:spPr>
          <a:xfrm>
            <a:off x="8988552" y="5961888"/>
            <a:ext cx="2286000" cy="128016"/>
          </a:xfrm>
          <a:prstGeom prst="rect">
            <a:avLst/>
          </a:prstGeom>
          <a:solidFill>
            <a:srgbClr val="EAECF0"/>
          </a:solidFill>
          <a:ln w="12700">
            <a:solidFill>
              <a:srgbClr val="EAEC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988552" y="5961888"/>
            <a:ext cx="2071116" cy="12801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402568" y="59253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90.6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| Dynamic pricing logic and outcomes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Tariffs are bounded, rule-based, and tied to predicted utilization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89888"/>
            <a:ext cx="3246120" cy="1298448"/>
          </a:xfrm>
          <a:prstGeom prst="roundRect">
            <a:avLst>
              <a:gd name="adj" fmla="val 2817"/>
            </a:avLst>
          </a:prstGeom>
          <a:solidFill>
            <a:srgbClr val="FEECEB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Surge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733"/>
                </a:solidFill>
              </a:rPr>
              <a:t>&gt;80% predicted utilization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Shift some demand away from overloaded periods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416552" y="1389888"/>
            <a:ext cx="3246120" cy="1298448"/>
          </a:xfrm>
          <a:prstGeom prst="roundRect">
            <a:avLst>
              <a:gd name="adj" fmla="val 2817"/>
            </a:avLst>
          </a:prstGeom>
          <a:solidFill>
            <a:srgbClr val="EAF1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FED"/>
                </a:solidFill>
              </a:rPr>
              <a:t>Normal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1938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733"/>
                </a:solidFill>
              </a:rPr>
              <a:t>30-80% predicted utilization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99432" y="2221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Avoid unnecessary price changes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147304" y="1389888"/>
            <a:ext cx="3246120" cy="1298448"/>
          </a:xfrm>
          <a:prstGeom prst="roundRect">
            <a:avLst>
              <a:gd name="adj" fmla="val 2817"/>
            </a:avLst>
          </a:prstGeom>
          <a:solidFill>
            <a:srgbClr val="EAF7E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F5A"/>
                </a:solidFill>
              </a:rPr>
              <a:t>Discount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30184" y="1938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2733"/>
                </a:solidFill>
              </a:rPr>
              <a:t>&lt;30% predicted utilization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0184" y="2221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Use spare capacity during low-demand periods</a:t>
            </a:r>
            <a:endParaRPr lang="en-US" sz="830" dirty="0"/>
          </a:p>
        </p:txBody>
      </p:sp>
      <p:pic>
        <p:nvPicPr>
          <p:cNvPr id="17" name="Image 0" descr="C:\Users\navya\OneDrive\Desktop\Socbiz_project\outputs\tariff_pricing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063240"/>
            <a:ext cx="5166360" cy="23774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355080" y="3063240"/>
            <a:ext cx="2148840" cy="932688"/>
          </a:xfrm>
          <a:prstGeom prst="roundRect">
            <a:avLst>
              <a:gd name="adj" fmla="val 4902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9672" y="319125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F5A"/>
                </a:solidFill>
              </a:rPr>
              <a:t>+4.62%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19672" y="35021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ACN revenue gain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19672" y="37216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flat baseline comparison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823960" y="3063240"/>
            <a:ext cx="2148840" cy="932688"/>
          </a:xfrm>
          <a:prstGeom prst="roundRect">
            <a:avLst>
              <a:gd name="adj" fmla="val 4902"/>
            </a:avLst>
          </a:prstGeom>
          <a:solidFill>
            <a:srgbClr val="FFF4DB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88552" y="319125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+2.7%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988552" y="3502152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UrbanEV off-peak uplift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988552" y="37216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low-utilization periods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419088" y="4475988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4434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 congestion guard prevents discounting hours that are already under pressure.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419088" y="4869180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48280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The pricing policy avoids unrealistic price jumps, which keeps the result more acceptable.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| Monitoring and learning agent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monitoring loop improves revenue while keeping demand response stable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pic>
        <p:nvPicPr>
          <p:cNvPr id="5" name="Image 0" descr="C:\Users\navya\OneDrive\Desktop\Socbiz_project\outputs\monitoring_lear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557784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444752"/>
            <a:ext cx="2057400" cy="932688"/>
          </a:xfrm>
          <a:prstGeom prst="roundRect">
            <a:avLst>
              <a:gd name="adj" fmla="val 4902"/>
            </a:avLst>
          </a:prstGeom>
          <a:solidFill>
            <a:srgbClr val="EAF7E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93992" y="15727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8F5A"/>
                </a:solidFill>
              </a:rPr>
              <a:t>+4.09%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93992" y="1883664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net revenue gain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793992" y="210312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after elasticity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9006840" y="1444752"/>
            <a:ext cx="2057400" cy="932688"/>
          </a:xfrm>
          <a:prstGeom prst="roundRect">
            <a:avLst>
              <a:gd name="adj" fmla="val 4902"/>
            </a:avLst>
          </a:prstGeom>
          <a:solidFill>
            <a:srgbClr val="EAF1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71432" y="1572768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FED"/>
                </a:solidFill>
              </a:rPr>
              <a:t>98.2%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71432" y="1883664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demand retained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171432" y="210312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customer response proxy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629400" y="2743200"/>
            <a:ext cx="20574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93992" y="287121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733"/>
                </a:solidFill>
              </a:rPr>
              <a:t>$0.3181/kWh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93992" y="3182112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pricing efficiency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793992" y="340156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ACN final episode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9006840" y="2743200"/>
            <a:ext cx="2057400" cy="932688"/>
          </a:xfrm>
          <a:prstGeom prst="roundRect">
            <a:avLst>
              <a:gd name="adj" fmla="val 4902"/>
            </a:avLst>
          </a:prstGeom>
          <a:solidFill>
            <a:srgbClr val="FFF4DB"/>
          </a:solidFill>
          <a:ln w="10160">
            <a:solidFill>
              <a:srgbClr val="D9DE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71432" y="2871216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2.03%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71432" y="3182112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2733"/>
                </a:solidFill>
              </a:rPr>
              <a:t>wait proxy reduction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171432" y="340156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UrbanEV congested hours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656832" y="4224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Final thresholds: surge 0.575, discount 0.1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56832" y="45902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Final tier mix: 9.5% surge, 1.6% discount, remainder normal.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| Implications and limits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for an EV charging operator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09960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F5A"/>
                </a:solidFill>
              </a:rPr>
              <a:t>Operational takeaways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1248" y="1851660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10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Forecast-led pricing can help spread demand without relying on extreme tariffs.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41248" y="2253996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128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Station and zone differences matter; flat network-wide rules miss local underuse and congestion.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2656332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15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Monitoring should track both business metrics and user-side metrics before tightening prices.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1417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7791F"/>
                </a:solidFill>
              </a:rPr>
              <a:t>Limits to state clearly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19088" y="1851660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105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Waiting time is a proxy based on utilization, not directly observed queue time.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19088" y="2253996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2128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Customer response is simulated using elasticity, not measured in a live experiment.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19088" y="2656332"/>
            <a:ext cx="64008" cy="6400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615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733"/>
                </a:solidFill>
              </a:rPr>
              <a:t>ACN and UrbanEV are different contexts, so results are reported separately.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977640"/>
            <a:ext cx="10607040" cy="1143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224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FED"/>
                </a:solidFill>
              </a:rPr>
              <a:t>Bottom 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4169664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2733"/>
                </a:solidFill>
              </a:rPr>
              <a:t>The project shows a practical dynamic-pricing workflow: predict utilization, apply bounded tariff rules, and update the policy using transparent KPIs instead of optimizing revenue alone.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544068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Recommended next checks: fairness by user group/site, sensitivity to elasticity, and validation on a future holdout period.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8A2B3"/>
                </a:solidFill>
              </a:rPr>
              <a:t>OP'26 Analytics | EV dynamic tariffs |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OP'26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Dynamic Tariff Optimization</dc:title>
  <dc:subject>EV Dynamic Tariff Optimization</dc:subject>
  <dc:creator>Socbiz Project</dc:creator>
  <cp:lastModifiedBy>Socbiz Project</cp:lastModifiedBy>
  <cp:revision>1</cp:revision>
  <dcterms:created xsi:type="dcterms:W3CDTF">2026-06-07T17:26:55Z</dcterms:created>
  <dcterms:modified xsi:type="dcterms:W3CDTF">2026-06-07T17:26:55Z</dcterms:modified>
</cp:coreProperties>
</file>